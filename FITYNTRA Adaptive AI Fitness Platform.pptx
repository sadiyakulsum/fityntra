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8" r:id="rId9"/>
    <p:sldId id="263" r:id="rId10"/>
    <p:sldId id="265" r:id="rId11"/>
    <p:sldId id="266" r:id="rId12"/>
    <p:sldId id="264" r:id="rId13"/>
    <p:sldId id="267" r:id="rId14"/>
  </p:sldIdLst>
  <p:sldSz cx="18288000" cy="10287000"/>
  <p:notesSz cx="6858000" cy="9144000"/>
  <p:embeddedFontLst>
    <p:embeddedFont>
      <p:font typeface="Open Sauce" panose="020B0604020202020204" charset="0"/>
      <p:regular r:id="rId15"/>
    </p:embeddedFont>
    <p:embeddedFont>
      <p:font typeface="Open Sauce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2021834" y="1028700"/>
            <a:ext cx="15237466" cy="959241"/>
            <a:chOff x="0" y="0"/>
            <a:chExt cx="4013160" cy="252640"/>
          </a:xfrm>
        </p:grpSpPr>
        <p:sp>
          <p:nvSpPr>
            <p:cNvPr id="3" name="Freeform 3"/>
            <p:cNvSpPr/>
            <p:nvPr/>
          </p:nvSpPr>
          <p:spPr>
            <a:xfrm>
              <a:off x="0" y="0"/>
              <a:ext cx="4013160" cy="252640"/>
            </a:xfrm>
            <a:custGeom>
              <a:avLst/>
              <a:gdLst/>
              <a:ahLst/>
              <a:cxnLst/>
              <a:rect l="l" t="t" r="r" b="b"/>
              <a:pathLst>
                <a:path w="4013160" h="252640">
                  <a:moveTo>
                    <a:pt x="25912" y="0"/>
                  </a:moveTo>
                  <a:lnTo>
                    <a:pt x="3987247" y="0"/>
                  </a:lnTo>
                  <a:cubicBezTo>
                    <a:pt x="4001558" y="0"/>
                    <a:pt x="4013160" y="11601"/>
                    <a:pt x="4013160" y="25912"/>
                  </a:cubicBezTo>
                  <a:lnTo>
                    <a:pt x="4013160" y="226727"/>
                  </a:lnTo>
                  <a:cubicBezTo>
                    <a:pt x="4013160" y="233600"/>
                    <a:pt x="4010430" y="240191"/>
                    <a:pt x="4005570" y="245050"/>
                  </a:cubicBezTo>
                  <a:cubicBezTo>
                    <a:pt x="4000711" y="249910"/>
                    <a:pt x="3994120" y="252640"/>
                    <a:pt x="3987247" y="252640"/>
                  </a:cubicBezTo>
                  <a:lnTo>
                    <a:pt x="25912" y="252640"/>
                  </a:lnTo>
                  <a:cubicBezTo>
                    <a:pt x="11601" y="252640"/>
                    <a:pt x="0" y="241038"/>
                    <a:pt x="0" y="226727"/>
                  </a:cubicBezTo>
                  <a:lnTo>
                    <a:pt x="0" y="25912"/>
                  </a:lnTo>
                  <a:cubicBezTo>
                    <a:pt x="0" y="19040"/>
                    <a:pt x="2730" y="12449"/>
                    <a:pt x="7590" y="7590"/>
                  </a:cubicBezTo>
                  <a:cubicBezTo>
                    <a:pt x="12449" y="2730"/>
                    <a:pt x="19040" y="0"/>
                    <a:pt x="25912" y="0"/>
                  </a:cubicBezTo>
                  <a:close/>
                </a:path>
              </a:pathLst>
            </a:custGeom>
            <a:solidFill>
              <a:srgbClr val="F8FCFF"/>
            </a:solidFill>
            <a:ln w="38100" cap="rnd">
              <a:solidFill>
                <a:srgbClr val="0063C2"/>
              </a:solidFill>
              <a:prstDash val="solid"/>
              <a:round/>
            </a:ln>
          </p:spPr>
        </p:sp>
        <p:sp>
          <p:nvSpPr>
            <p:cNvPr id="4" name="TextBox 4"/>
            <p:cNvSpPr txBox="1"/>
            <p:nvPr/>
          </p:nvSpPr>
          <p:spPr>
            <a:xfrm>
              <a:off x="0" y="-38100"/>
              <a:ext cx="4013160"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5" name="Group 5"/>
          <p:cNvGrpSpPr/>
          <p:nvPr/>
        </p:nvGrpSpPr>
        <p:grpSpPr>
          <a:xfrm>
            <a:off x="1028700" y="1028700"/>
            <a:ext cx="4405296" cy="995406"/>
            <a:chOff x="0" y="0"/>
            <a:chExt cx="1160243" cy="252640"/>
          </a:xfrm>
        </p:grpSpPr>
        <p:sp>
          <p:nvSpPr>
            <p:cNvPr id="6" name="Freeform 6"/>
            <p:cNvSpPr/>
            <p:nvPr/>
          </p:nvSpPr>
          <p:spPr>
            <a:xfrm>
              <a:off x="0" y="0"/>
              <a:ext cx="1160243" cy="252640"/>
            </a:xfrm>
            <a:custGeom>
              <a:avLst/>
              <a:gdLst/>
              <a:ahLst/>
              <a:cxnLst/>
              <a:rect l="l" t="t" r="r" b="b"/>
              <a:pathLst>
                <a:path w="1160243" h="252640">
                  <a:moveTo>
                    <a:pt x="89628" y="0"/>
                  </a:moveTo>
                  <a:lnTo>
                    <a:pt x="1070614" y="0"/>
                  </a:lnTo>
                  <a:cubicBezTo>
                    <a:pt x="1120115" y="0"/>
                    <a:pt x="1160243" y="40128"/>
                    <a:pt x="1160243" y="89628"/>
                  </a:cubicBezTo>
                  <a:lnTo>
                    <a:pt x="1160243" y="163012"/>
                  </a:lnTo>
                  <a:cubicBezTo>
                    <a:pt x="1160243" y="186783"/>
                    <a:pt x="1150800" y="209580"/>
                    <a:pt x="1133991" y="226388"/>
                  </a:cubicBezTo>
                  <a:cubicBezTo>
                    <a:pt x="1117183" y="243197"/>
                    <a:pt x="1094385" y="252640"/>
                    <a:pt x="1070614" y="252640"/>
                  </a:cubicBezTo>
                  <a:lnTo>
                    <a:pt x="89628" y="252640"/>
                  </a:lnTo>
                  <a:cubicBezTo>
                    <a:pt x="65857" y="252640"/>
                    <a:pt x="43060" y="243197"/>
                    <a:pt x="26251" y="226388"/>
                  </a:cubicBezTo>
                  <a:cubicBezTo>
                    <a:pt x="9443" y="209580"/>
                    <a:pt x="0" y="186783"/>
                    <a:pt x="0" y="163012"/>
                  </a:cubicBezTo>
                  <a:lnTo>
                    <a:pt x="0" y="89628"/>
                  </a:lnTo>
                  <a:cubicBezTo>
                    <a:pt x="0" y="65857"/>
                    <a:pt x="9443" y="43060"/>
                    <a:pt x="26251" y="26251"/>
                  </a:cubicBezTo>
                  <a:cubicBezTo>
                    <a:pt x="43060" y="9443"/>
                    <a:pt x="65857" y="0"/>
                    <a:pt x="89628" y="0"/>
                  </a:cubicBezTo>
                  <a:close/>
                </a:path>
              </a:pathLst>
            </a:custGeom>
            <a:solidFill>
              <a:srgbClr val="0063C2"/>
            </a:solidFill>
          </p:spPr>
        </p:sp>
        <p:sp>
          <p:nvSpPr>
            <p:cNvPr id="7" name="TextBox 7"/>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11" name="Group 11"/>
          <p:cNvGrpSpPr/>
          <p:nvPr/>
        </p:nvGrpSpPr>
        <p:grpSpPr>
          <a:xfrm>
            <a:off x="0" y="9662954"/>
            <a:ext cx="18288000" cy="624046"/>
            <a:chOff x="0" y="0"/>
            <a:chExt cx="4816593" cy="164358"/>
          </a:xfrm>
        </p:grpSpPr>
        <p:sp>
          <p:nvSpPr>
            <p:cNvPr id="12" name="Freeform 12"/>
            <p:cNvSpPr/>
            <p:nvPr/>
          </p:nvSpPr>
          <p:spPr>
            <a:xfrm>
              <a:off x="0" y="0"/>
              <a:ext cx="4816592" cy="164358"/>
            </a:xfrm>
            <a:custGeom>
              <a:avLst/>
              <a:gdLst/>
              <a:ahLst/>
              <a:cxnLst/>
              <a:rect l="l" t="t" r="r" b="b"/>
              <a:pathLst>
                <a:path w="4816592" h="164358">
                  <a:moveTo>
                    <a:pt x="0" y="0"/>
                  </a:moveTo>
                  <a:lnTo>
                    <a:pt x="4816592" y="0"/>
                  </a:lnTo>
                  <a:lnTo>
                    <a:pt x="4816592" y="164358"/>
                  </a:lnTo>
                  <a:lnTo>
                    <a:pt x="0" y="164358"/>
                  </a:lnTo>
                  <a:close/>
                </a:path>
              </a:pathLst>
            </a:custGeom>
            <a:gradFill rotWithShape="1">
              <a:gsLst>
                <a:gs pos="0">
                  <a:srgbClr val="00172C">
                    <a:alpha val="100000"/>
                  </a:srgbClr>
                </a:gs>
                <a:gs pos="100000">
                  <a:srgbClr val="2961BC">
                    <a:alpha val="100000"/>
                  </a:srgbClr>
                </a:gs>
              </a:gsLst>
              <a:lin ang="0"/>
            </a:gradFill>
          </p:spPr>
        </p:sp>
        <p:sp>
          <p:nvSpPr>
            <p:cNvPr id="13" name="TextBox 13"/>
            <p:cNvSpPr txBox="1"/>
            <p:nvPr/>
          </p:nvSpPr>
          <p:spPr>
            <a:xfrm>
              <a:off x="0" y="9525"/>
              <a:ext cx="4816593" cy="154833"/>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7689826" y="8602335"/>
            <a:ext cx="2908337" cy="623974"/>
            <a:chOff x="0" y="0"/>
            <a:chExt cx="765982" cy="164339"/>
          </a:xfrm>
        </p:grpSpPr>
        <p:sp>
          <p:nvSpPr>
            <p:cNvPr id="15" name="Freeform 15"/>
            <p:cNvSpPr/>
            <p:nvPr/>
          </p:nvSpPr>
          <p:spPr>
            <a:xfrm>
              <a:off x="0" y="0"/>
              <a:ext cx="765982" cy="164339"/>
            </a:xfrm>
            <a:custGeom>
              <a:avLst/>
              <a:gdLst/>
              <a:ahLst/>
              <a:cxnLst/>
              <a:rect l="l" t="t" r="r" b="b"/>
              <a:pathLst>
                <a:path w="765982" h="164339">
                  <a:moveTo>
                    <a:pt x="82169" y="0"/>
                  </a:moveTo>
                  <a:lnTo>
                    <a:pt x="683812" y="0"/>
                  </a:lnTo>
                  <a:cubicBezTo>
                    <a:pt x="705605" y="0"/>
                    <a:pt x="726505" y="8657"/>
                    <a:pt x="741915" y="24067"/>
                  </a:cubicBezTo>
                  <a:cubicBezTo>
                    <a:pt x="757325" y="39477"/>
                    <a:pt x="765982" y="60377"/>
                    <a:pt x="765982" y="82169"/>
                  </a:cubicBezTo>
                  <a:lnTo>
                    <a:pt x="765982" y="82169"/>
                  </a:lnTo>
                  <a:cubicBezTo>
                    <a:pt x="765982" y="127550"/>
                    <a:pt x="729193" y="164339"/>
                    <a:pt x="683812" y="164339"/>
                  </a:cubicBezTo>
                  <a:lnTo>
                    <a:pt x="82169" y="164339"/>
                  </a:lnTo>
                  <a:cubicBezTo>
                    <a:pt x="36788" y="164339"/>
                    <a:pt x="0" y="127550"/>
                    <a:pt x="0" y="82169"/>
                  </a:cubicBezTo>
                  <a:lnTo>
                    <a:pt x="0" y="82169"/>
                  </a:lnTo>
                  <a:cubicBezTo>
                    <a:pt x="0" y="36788"/>
                    <a:pt x="36788" y="0"/>
                    <a:pt x="82169" y="0"/>
                  </a:cubicBezTo>
                  <a:close/>
                </a:path>
              </a:pathLst>
            </a:custGeom>
            <a:solidFill>
              <a:srgbClr val="0063C2"/>
            </a:solidFill>
          </p:spPr>
        </p:sp>
        <p:sp>
          <p:nvSpPr>
            <p:cNvPr id="16" name="TextBox 16"/>
            <p:cNvSpPr txBox="1"/>
            <p:nvPr/>
          </p:nvSpPr>
          <p:spPr>
            <a:xfrm>
              <a:off x="0" y="-38100"/>
              <a:ext cx="765982" cy="202439"/>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18" name="TextBox 18"/>
          <p:cNvSpPr txBox="1"/>
          <p:nvPr/>
        </p:nvSpPr>
        <p:spPr>
          <a:xfrm>
            <a:off x="6293491" y="2938184"/>
            <a:ext cx="5701010" cy="1274707"/>
          </a:xfrm>
          <a:prstGeom prst="rect">
            <a:avLst/>
          </a:prstGeom>
        </p:spPr>
        <p:txBody>
          <a:bodyPr wrap="square" lIns="0" tIns="0" rIns="0" bIns="0" rtlCol="0" anchor="t">
            <a:spAutoFit/>
          </a:bodyPr>
          <a:lstStyle/>
          <a:p>
            <a:pPr marL="0" lvl="0" indent="0" algn="l">
              <a:lnSpc>
                <a:spcPts val="9815"/>
              </a:lnSpc>
            </a:pPr>
            <a:r>
              <a:rPr lang="en-US" sz="8686" b="1" u="sng" spc="-321" dirty="0">
                <a:solidFill>
                  <a:srgbClr val="00172C"/>
                </a:solidFill>
                <a:latin typeface="Times New Roman" panose="02020603050405020304" pitchFamily="18" charset="0"/>
                <a:ea typeface="Open Sauce Bold"/>
                <a:cs typeface="Times New Roman" panose="02020603050405020304" pitchFamily="18" charset="0"/>
                <a:sym typeface="Open Sauce Bold"/>
              </a:rPr>
              <a:t>FITYNTRA</a:t>
            </a:r>
          </a:p>
        </p:txBody>
      </p:sp>
      <p:sp>
        <p:nvSpPr>
          <p:cNvPr id="19" name="TextBox 19"/>
          <p:cNvSpPr txBox="1"/>
          <p:nvPr/>
        </p:nvSpPr>
        <p:spPr>
          <a:xfrm>
            <a:off x="5476589" y="6151826"/>
            <a:ext cx="7334813" cy="766606"/>
          </a:xfrm>
          <a:prstGeom prst="rect">
            <a:avLst/>
          </a:prstGeom>
        </p:spPr>
        <p:txBody>
          <a:bodyPr lIns="0" tIns="0" rIns="0" bIns="0" rtlCol="0" anchor="t">
            <a:spAutoFit/>
          </a:bodyPr>
          <a:lstStyle/>
          <a:p>
            <a:pPr marL="0" lvl="0" indent="0" algn="ctr">
              <a:lnSpc>
                <a:spcPts val="3006"/>
              </a:lnSpc>
            </a:pPr>
            <a:r>
              <a:rPr lang="en-US" sz="2661" b="1" spc="-98" dirty="0">
                <a:solidFill>
                  <a:srgbClr val="0063C2"/>
                </a:solidFill>
                <a:latin typeface="Times New Roman" panose="02020603050405020304" pitchFamily="18" charset="0"/>
                <a:ea typeface="Open Sauce Bold"/>
                <a:cs typeface="Times New Roman" panose="02020603050405020304" pitchFamily="18" charset="0"/>
                <a:sym typeface="Open Sauce Bold"/>
              </a:rPr>
              <a:t>An Adaptive AIML-Driven Fitness and Nutrition Platform with Injury-Aware Wellness Support</a:t>
            </a:r>
          </a:p>
        </p:txBody>
      </p:sp>
      <p:sp>
        <p:nvSpPr>
          <p:cNvPr id="20" name="TextBox 20"/>
          <p:cNvSpPr txBox="1"/>
          <p:nvPr/>
        </p:nvSpPr>
        <p:spPr>
          <a:xfrm>
            <a:off x="7201424" y="7403836"/>
            <a:ext cx="3885139" cy="511317"/>
          </a:xfrm>
          <a:prstGeom prst="rect">
            <a:avLst/>
          </a:prstGeom>
        </p:spPr>
        <p:txBody>
          <a:bodyPr lIns="0" tIns="0" rIns="0" bIns="0" rtlCol="0" anchor="t">
            <a:spAutoFit/>
          </a:bodyPr>
          <a:lstStyle/>
          <a:p>
            <a:pPr marL="0" lvl="0" indent="0" algn="ctr">
              <a:lnSpc>
                <a:spcPts val="2035"/>
              </a:lnSpc>
            </a:pPr>
            <a:r>
              <a:rPr lang="en-US" sz="1801" spc="28" dirty="0">
                <a:solidFill>
                  <a:srgbClr val="00172C"/>
                </a:solidFill>
                <a:latin typeface="Times New Roman" panose="02020603050405020304" pitchFamily="18" charset="0"/>
                <a:ea typeface="Open Sauce"/>
                <a:cs typeface="Times New Roman" panose="02020603050405020304" pitchFamily="18" charset="0"/>
                <a:sym typeface="Open Sauce"/>
              </a:rPr>
              <a:t>Integrating Personalized Health, Indian Diets &amp; Clinical Safety</a:t>
            </a:r>
          </a:p>
        </p:txBody>
      </p:sp>
      <p:sp>
        <p:nvSpPr>
          <p:cNvPr id="21" name="TextBox 21"/>
          <p:cNvSpPr txBox="1"/>
          <p:nvPr/>
        </p:nvSpPr>
        <p:spPr>
          <a:xfrm>
            <a:off x="7820963" y="8806537"/>
            <a:ext cx="2646062" cy="254142"/>
          </a:xfrm>
          <a:prstGeom prst="rect">
            <a:avLst/>
          </a:prstGeom>
        </p:spPr>
        <p:txBody>
          <a:bodyPr lIns="0" tIns="0" rIns="0" bIns="0" rtlCol="0" anchor="t">
            <a:spAutoFit/>
          </a:bodyPr>
          <a:lstStyle/>
          <a:p>
            <a:pPr marL="0" lvl="0" indent="0" algn="ctr">
              <a:lnSpc>
                <a:spcPts val="2035"/>
              </a:lnSpc>
            </a:pPr>
            <a:r>
              <a:rPr lang="en-US" sz="1801" spc="28" dirty="0">
                <a:solidFill>
                  <a:srgbClr val="F8FCFF"/>
                </a:solidFill>
                <a:latin typeface="Times New Roman" panose="02020603050405020304" pitchFamily="18" charset="0"/>
                <a:ea typeface="Open Sauce"/>
                <a:cs typeface="Times New Roman" panose="02020603050405020304" pitchFamily="18" charset="0"/>
                <a:sym typeface="Open Sauce"/>
              </a:rPr>
              <a:t>COHORD 23</a:t>
            </a:r>
          </a:p>
        </p:txBody>
      </p:sp>
      <p:sp>
        <p:nvSpPr>
          <p:cNvPr id="22" name="TextBox 22"/>
          <p:cNvSpPr txBox="1"/>
          <p:nvPr/>
        </p:nvSpPr>
        <p:spPr>
          <a:xfrm>
            <a:off x="2551673" y="1370399"/>
            <a:ext cx="2510030" cy="254142"/>
          </a:xfrm>
          <a:prstGeom prst="rect">
            <a:avLst/>
          </a:prstGeom>
        </p:spPr>
        <p:txBody>
          <a:bodyPr lIns="0" tIns="0" rIns="0" bIns="0" rtlCol="0" anchor="t">
            <a:spAutoFit/>
          </a:bodyPr>
          <a:lstStyle/>
          <a:p>
            <a:pPr marL="0" lvl="0" indent="0" algn="l">
              <a:lnSpc>
                <a:spcPts val="2035"/>
              </a:lnSpc>
            </a:pPr>
            <a:r>
              <a:rPr lang="en-US" sz="1801" b="1" spc="28" dirty="0">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sp>
        <p:nvSpPr>
          <p:cNvPr id="23" name="TextBox 23"/>
          <p:cNvSpPr txBox="1"/>
          <p:nvPr/>
        </p:nvSpPr>
        <p:spPr>
          <a:xfrm>
            <a:off x="10340479" y="1372678"/>
            <a:ext cx="2005110" cy="254142"/>
          </a:xfrm>
          <a:prstGeom prst="rect">
            <a:avLst/>
          </a:prstGeom>
        </p:spPr>
        <p:txBody>
          <a:bodyPr lIns="0" tIns="0" rIns="0" bIns="0" rtlCol="0" anchor="t">
            <a:spAutoFit/>
          </a:bodyPr>
          <a:lstStyle/>
          <a:p>
            <a:pPr marL="0" lvl="0" indent="0" algn="ctr">
              <a:lnSpc>
                <a:spcPts val="2035"/>
              </a:lnSpc>
            </a:pPr>
            <a:r>
              <a:rPr lang="en-US" sz="1801" spc="28" dirty="0">
                <a:solidFill>
                  <a:srgbClr val="00172C"/>
                </a:solidFill>
                <a:latin typeface="Times New Roman" panose="02020603050405020304" pitchFamily="18" charset="0"/>
                <a:ea typeface="Open Sauce"/>
                <a:cs typeface="Times New Roman" panose="02020603050405020304" pitchFamily="18" charset="0"/>
                <a:sym typeface="Open Sauce"/>
              </a:rPr>
              <a:t>Health</a:t>
            </a:r>
          </a:p>
        </p:txBody>
      </p:sp>
      <p:sp>
        <p:nvSpPr>
          <p:cNvPr id="24" name="TextBox 24"/>
          <p:cNvSpPr txBox="1"/>
          <p:nvPr/>
        </p:nvSpPr>
        <p:spPr>
          <a:xfrm>
            <a:off x="12404314" y="1372678"/>
            <a:ext cx="2005110" cy="254142"/>
          </a:xfrm>
          <a:prstGeom prst="rect">
            <a:avLst/>
          </a:prstGeom>
        </p:spPr>
        <p:txBody>
          <a:bodyPr lIns="0" tIns="0" rIns="0" bIns="0" rtlCol="0" anchor="t">
            <a:spAutoFit/>
          </a:bodyPr>
          <a:lstStyle/>
          <a:p>
            <a:pPr marL="0" lvl="0" indent="0" algn="ctr">
              <a:lnSpc>
                <a:spcPts val="2035"/>
              </a:lnSpc>
            </a:pPr>
            <a:r>
              <a:rPr lang="en-US" sz="1801" spc="28">
                <a:solidFill>
                  <a:srgbClr val="00172C"/>
                </a:solidFill>
                <a:latin typeface="Times New Roman" panose="02020603050405020304" pitchFamily="18" charset="0"/>
                <a:ea typeface="Open Sauce"/>
                <a:cs typeface="Times New Roman" panose="02020603050405020304" pitchFamily="18" charset="0"/>
                <a:sym typeface="Open Sauce"/>
              </a:rPr>
              <a:t>Fitness</a:t>
            </a:r>
          </a:p>
        </p:txBody>
      </p:sp>
      <p:sp>
        <p:nvSpPr>
          <p:cNvPr id="25" name="TextBox 25"/>
          <p:cNvSpPr txBox="1"/>
          <p:nvPr/>
        </p:nvSpPr>
        <p:spPr>
          <a:xfrm>
            <a:off x="14439516" y="1372678"/>
            <a:ext cx="2005110" cy="254142"/>
          </a:xfrm>
          <a:prstGeom prst="rect">
            <a:avLst/>
          </a:prstGeom>
        </p:spPr>
        <p:txBody>
          <a:bodyPr lIns="0" tIns="0" rIns="0" bIns="0" rtlCol="0" anchor="t">
            <a:spAutoFit/>
          </a:bodyPr>
          <a:lstStyle/>
          <a:p>
            <a:pPr marL="0" lvl="0" indent="0" algn="ctr">
              <a:lnSpc>
                <a:spcPts val="2035"/>
              </a:lnSpc>
            </a:pPr>
            <a:r>
              <a:rPr lang="en-US" sz="1801" spc="28">
                <a:solidFill>
                  <a:srgbClr val="00172C"/>
                </a:solidFill>
                <a:latin typeface="Times New Roman" panose="02020603050405020304" pitchFamily="18" charset="0"/>
                <a:ea typeface="Open Sauce"/>
                <a:cs typeface="Times New Roman" panose="02020603050405020304" pitchFamily="18" charset="0"/>
                <a:sym typeface="Open Sauce"/>
              </a:rPr>
              <a:t>Nutrition</a:t>
            </a:r>
          </a:p>
        </p:txBody>
      </p:sp>
      <p:sp>
        <p:nvSpPr>
          <p:cNvPr id="8" name="TextBox 7">
            <a:extLst>
              <a:ext uri="{FF2B5EF4-FFF2-40B4-BE49-F238E27FC236}">
                <a16:creationId xmlns:a16="http://schemas.microsoft.com/office/drawing/2014/main" id="{C8F308D8-D269-01D2-3B4D-AA826B08BF93}"/>
              </a:ext>
            </a:extLst>
          </p:cNvPr>
          <p:cNvSpPr txBox="1"/>
          <p:nvPr/>
        </p:nvSpPr>
        <p:spPr>
          <a:xfrm>
            <a:off x="10702492" y="4072095"/>
            <a:ext cx="4217821" cy="523220"/>
          </a:xfrm>
          <a:prstGeom prst="rect">
            <a:avLst/>
          </a:prstGeom>
          <a:noFill/>
        </p:spPr>
        <p:txBody>
          <a:bodyPr wrap="none" rtlCol="0">
            <a:spAutoFit/>
          </a:bodyPr>
          <a:lstStyle/>
          <a:p>
            <a:r>
              <a:rPr lang="hi-IN" sz="2800" b="1" dirty="0"/>
              <a:t>स्वस्थ शरीर, सशक्त जीवन</a:t>
            </a:r>
            <a:endParaRPr lang="en-IN"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693183"/>
            <a:ext cx="3081706" cy="671033"/>
            <a:chOff x="0" y="0"/>
            <a:chExt cx="1160243" cy="252640"/>
          </a:xfrm>
        </p:grpSpPr>
        <p:sp>
          <p:nvSpPr>
            <p:cNvPr id="3" name="Freeform 3"/>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4" name="TextBox 4"/>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028700" y="1599448"/>
            <a:ext cx="14744700" cy="7963651"/>
            <a:chOff x="0" y="0"/>
            <a:chExt cx="2540510" cy="2167467"/>
          </a:xfrm>
        </p:grpSpPr>
        <p:sp>
          <p:nvSpPr>
            <p:cNvPr id="7" name="Freeform 7"/>
            <p:cNvSpPr/>
            <p:nvPr/>
          </p:nvSpPr>
          <p:spPr>
            <a:xfrm>
              <a:off x="0" y="0"/>
              <a:ext cx="2540510" cy="2167467"/>
            </a:xfrm>
            <a:custGeom>
              <a:avLst/>
              <a:gdLst/>
              <a:ahLst/>
              <a:cxnLst/>
              <a:rect l="l" t="t" r="r" b="b"/>
              <a:pathLst>
                <a:path w="2540510" h="2167467">
                  <a:moveTo>
                    <a:pt x="28894" y="0"/>
                  </a:moveTo>
                  <a:lnTo>
                    <a:pt x="2511616" y="0"/>
                  </a:lnTo>
                  <a:cubicBezTo>
                    <a:pt x="2527574" y="0"/>
                    <a:pt x="2540510" y="12936"/>
                    <a:pt x="2540510" y="28894"/>
                  </a:cubicBezTo>
                  <a:lnTo>
                    <a:pt x="2540510" y="2138573"/>
                  </a:lnTo>
                  <a:cubicBezTo>
                    <a:pt x="2540510" y="2146236"/>
                    <a:pt x="2537466" y="2153585"/>
                    <a:pt x="2532047" y="2159004"/>
                  </a:cubicBezTo>
                  <a:cubicBezTo>
                    <a:pt x="2526629" y="2164423"/>
                    <a:pt x="2519279" y="2167467"/>
                    <a:pt x="2511616" y="2167467"/>
                  </a:cubicBezTo>
                  <a:lnTo>
                    <a:pt x="28894" y="2167467"/>
                  </a:lnTo>
                  <a:cubicBezTo>
                    <a:pt x="21231" y="2167467"/>
                    <a:pt x="13881" y="2164423"/>
                    <a:pt x="8463" y="2159004"/>
                  </a:cubicBezTo>
                  <a:cubicBezTo>
                    <a:pt x="3044" y="2153585"/>
                    <a:pt x="0" y="2146236"/>
                    <a:pt x="0" y="2138573"/>
                  </a:cubicBezTo>
                  <a:lnTo>
                    <a:pt x="0" y="28894"/>
                  </a:lnTo>
                  <a:cubicBezTo>
                    <a:pt x="0" y="21231"/>
                    <a:pt x="3044" y="13881"/>
                    <a:pt x="8463" y="8463"/>
                  </a:cubicBezTo>
                  <a:cubicBezTo>
                    <a:pt x="13881" y="3044"/>
                    <a:pt x="21231" y="0"/>
                    <a:pt x="28894" y="0"/>
                  </a:cubicBezTo>
                  <a:close/>
                </a:path>
              </a:pathLst>
            </a:custGeom>
            <a:solidFill>
              <a:srgbClr val="0063C2"/>
            </a:solidFill>
          </p:spPr>
        </p:sp>
        <p:sp>
          <p:nvSpPr>
            <p:cNvPr id="8" name="TextBox 8"/>
            <p:cNvSpPr txBox="1"/>
            <p:nvPr/>
          </p:nvSpPr>
          <p:spPr>
            <a:xfrm>
              <a:off x="0" y="9525"/>
              <a:ext cx="2540510" cy="2157942"/>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sp>
        <p:nvSpPr>
          <p:cNvPr id="11" name="Freeform 11"/>
          <p:cNvSpPr/>
          <p:nvPr/>
        </p:nvSpPr>
        <p:spPr>
          <a:xfrm>
            <a:off x="11974417" y="2095500"/>
            <a:ext cx="3300018" cy="2110557"/>
          </a:xfrm>
          <a:custGeom>
            <a:avLst/>
            <a:gdLst/>
            <a:ahLst/>
            <a:cxnLst/>
            <a:rect l="l" t="t" r="r" b="b"/>
            <a:pathLst>
              <a:path w="2158875" h="2181040">
                <a:moveTo>
                  <a:pt x="0" y="0"/>
                </a:moveTo>
                <a:lnTo>
                  <a:pt x="2158875" y="0"/>
                </a:lnTo>
                <a:lnTo>
                  <a:pt x="2158875" y="2181040"/>
                </a:lnTo>
                <a:lnTo>
                  <a:pt x="0" y="2181040"/>
                </a:lnTo>
                <a:lnTo>
                  <a:pt x="0" y="0"/>
                </a:lnTo>
                <a:close/>
              </a:path>
            </a:pathLst>
          </a:custGeom>
          <a:blipFill>
            <a:blip r:embed="rId2"/>
            <a:stretch>
              <a:fillRect/>
            </a:stretch>
          </a:blipFill>
        </p:spPr>
        <p:txBody>
          <a:bodyPr/>
          <a:lstStyle/>
          <a:p>
            <a:endParaRPr lang="en-IN" dirty="0">
              <a:latin typeface="Times New Roman" panose="02020603050405020304" pitchFamily="18" charset="0"/>
              <a:cs typeface="Times New Roman" panose="02020603050405020304" pitchFamily="18" charset="0"/>
            </a:endParaRPr>
          </a:p>
        </p:txBody>
      </p:sp>
      <p:sp>
        <p:nvSpPr>
          <p:cNvPr id="12" name="TextBox 12"/>
          <p:cNvSpPr txBox="1"/>
          <p:nvPr/>
        </p:nvSpPr>
        <p:spPr>
          <a:xfrm>
            <a:off x="2094089" y="928416"/>
            <a:ext cx="1755880" cy="218008"/>
          </a:xfrm>
          <a:prstGeom prst="rect">
            <a:avLst/>
          </a:prstGeom>
        </p:spPr>
        <p:txBody>
          <a:bodyPr lIns="0" tIns="0" rIns="0" bIns="0" rtlCol="0" anchor="t">
            <a:spAutoFit/>
          </a:bodyPr>
          <a:lstStyle/>
          <a:p>
            <a:pPr marL="0" lvl="0" indent="0" algn="l">
              <a:lnSpc>
                <a:spcPts val="1658"/>
              </a:lnSpc>
            </a:pPr>
            <a:r>
              <a:rPr lang="en-US" sz="1468" b="1" spc="23">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sp>
        <p:nvSpPr>
          <p:cNvPr id="13" name="TextBox 13"/>
          <p:cNvSpPr txBox="1"/>
          <p:nvPr/>
        </p:nvSpPr>
        <p:spPr>
          <a:xfrm>
            <a:off x="2054760" y="2785983"/>
            <a:ext cx="12878756" cy="1256754"/>
          </a:xfrm>
          <a:prstGeom prst="rect">
            <a:avLst/>
          </a:prstGeom>
        </p:spPr>
        <p:txBody>
          <a:bodyPr wrap="square" lIns="0" tIns="0" rIns="0" bIns="0" rtlCol="0" anchor="t">
            <a:spAutoFit/>
          </a:bodyPr>
          <a:lstStyle/>
          <a:p>
            <a:pPr marL="0" lvl="0" indent="0" algn="l">
              <a:lnSpc>
                <a:spcPts val="9808"/>
              </a:lnSpc>
            </a:pPr>
            <a:r>
              <a:rPr lang="en-US" sz="8680" b="1" spc="-321" dirty="0">
                <a:solidFill>
                  <a:srgbClr val="F8FCFF"/>
                </a:solidFill>
                <a:latin typeface="Times New Roman" panose="02020603050405020304" pitchFamily="18" charset="0"/>
                <a:ea typeface="Open Sauce Bold"/>
                <a:cs typeface="Times New Roman" panose="02020603050405020304" pitchFamily="18" charset="0"/>
                <a:sym typeface="Open Sauce Bold"/>
              </a:rPr>
              <a:t>INTRODUCTION</a:t>
            </a:r>
          </a:p>
        </p:txBody>
      </p:sp>
      <p:sp>
        <p:nvSpPr>
          <p:cNvPr id="14" name="TextBox 14"/>
          <p:cNvSpPr txBox="1"/>
          <p:nvPr/>
        </p:nvSpPr>
        <p:spPr>
          <a:xfrm>
            <a:off x="2062134" y="4954026"/>
            <a:ext cx="12237388" cy="1457707"/>
          </a:xfrm>
          <a:prstGeom prst="rect">
            <a:avLst/>
          </a:prstGeom>
        </p:spPr>
        <p:txBody>
          <a:bodyPr wrap="square" lIns="0" tIns="0" rIns="0" bIns="0" rtlCol="0" anchor="t">
            <a:spAutoFit/>
          </a:bodyPr>
          <a:lstStyle/>
          <a:p>
            <a:pPr marL="0" lvl="0" indent="0" algn="l">
              <a:lnSpc>
                <a:spcPts val="2937"/>
              </a:lnSpc>
            </a:pPr>
            <a:r>
              <a:rPr lang="en-US" sz="2098" spc="33" dirty="0">
                <a:solidFill>
                  <a:srgbClr val="F8FCFF"/>
                </a:solidFill>
                <a:latin typeface="Times New Roman" panose="02020603050405020304" pitchFamily="18" charset="0"/>
                <a:ea typeface="Open Sauce"/>
                <a:cs typeface="Times New Roman" panose="02020603050405020304" pitchFamily="18" charset="0"/>
                <a:sym typeface="Open Sauce"/>
              </a:rPr>
              <a:t>Maintaining sustainable fitness and nutrition is complex due to non-linear biometrics and regional dietary habits. Existing apps rely on static formulas, ignoring stress, sleep, macronutrients, and injuries. Advances in ML and NLP now enable dynamic personalized guidance. FITYNTRA integrates Indian dietary data with clinical guardrails for safe, adaptive wellness.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693183"/>
            <a:ext cx="3081706" cy="671033"/>
            <a:chOff x="0" y="0"/>
            <a:chExt cx="1160243" cy="252640"/>
          </a:xfrm>
        </p:grpSpPr>
        <p:sp>
          <p:nvSpPr>
            <p:cNvPr id="3" name="Freeform 3"/>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4" name="TextBox 4"/>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6" name="AutoShape 6"/>
          <p:cNvSpPr/>
          <p:nvPr/>
        </p:nvSpPr>
        <p:spPr>
          <a:xfrm>
            <a:off x="1016184" y="6270656"/>
            <a:ext cx="7837843" cy="0"/>
          </a:xfrm>
          <a:prstGeom prst="line">
            <a:avLst/>
          </a:prstGeom>
          <a:ln w="38100" cap="flat">
            <a:solidFill>
              <a:srgbClr val="00172C"/>
            </a:solidFill>
            <a:prstDash val="solid"/>
            <a:headEnd type="none" w="sm" len="sm"/>
            <a:tailEnd type="none" w="sm" len="sm"/>
          </a:ln>
        </p:spPr>
      </p:sp>
      <p:sp>
        <p:nvSpPr>
          <p:cNvPr id="7" name="Freeform 7"/>
          <p:cNvSpPr/>
          <p:nvPr/>
        </p:nvSpPr>
        <p:spPr>
          <a:xfrm>
            <a:off x="8003593" y="5638196"/>
            <a:ext cx="436851" cy="436851"/>
          </a:xfrm>
          <a:custGeom>
            <a:avLst/>
            <a:gdLst/>
            <a:ahLst/>
            <a:cxnLst/>
            <a:rect l="l" t="t" r="r" b="b"/>
            <a:pathLst>
              <a:path w="436851" h="436851">
                <a:moveTo>
                  <a:pt x="0" y="0"/>
                </a:moveTo>
                <a:lnTo>
                  <a:pt x="436851" y="0"/>
                </a:lnTo>
                <a:lnTo>
                  <a:pt x="436851" y="436851"/>
                </a:lnTo>
                <a:lnTo>
                  <a:pt x="0" y="43685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AutoShape 8"/>
          <p:cNvSpPr/>
          <p:nvPr/>
        </p:nvSpPr>
        <p:spPr>
          <a:xfrm>
            <a:off x="1016184" y="7160291"/>
            <a:ext cx="7837843" cy="0"/>
          </a:xfrm>
          <a:prstGeom prst="line">
            <a:avLst/>
          </a:prstGeom>
          <a:ln w="38100" cap="flat">
            <a:solidFill>
              <a:srgbClr val="00172C"/>
            </a:solidFill>
            <a:prstDash val="solid"/>
            <a:headEnd type="none" w="sm" len="sm"/>
            <a:tailEnd type="none" w="sm" len="sm"/>
          </a:ln>
        </p:spPr>
      </p:sp>
      <p:sp>
        <p:nvSpPr>
          <p:cNvPr id="9" name="Freeform 9"/>
          <p:cNvSpPr/>
          <p:nvPr/>
        </p:nvSpPr>
        <p:spPr>
          <a:xfrm>
            <a:off x="8003593" y="6527831"/>
            <a:ext cx="436851" cy="436851"/>
          </a:xfrm>
          <a:custGeom>
            <a:avLst/>
            <a:gdLst/>
            <a:ahLst/>
            <a:cxnLst/>
            <a:rect l="l" t="t" r="r" b="b"/>
            <a:pathLst>
              <a:path w="436851" h="436851">
                <a:moveTo>
                  <a:pt x="0" y="0"/>
                </a:moveTo>
                <a:lnTo>
                  <a:pt x="436851" y="0"/>
                </a:lnTo>
                <a:lnTo>
                  <a:pt x="436851" y="436851"/>
                </a:lnTo>
                <a:lnTo>
                  <a:pt x="0" y="43685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AutoShape 10"/>
          <p:cNvSpPr/>
          <p:nvPr/>
        </p:nvSpPr>
        <p:spPr>
          <a:xfrm>
            <a:off x="1016184" y="8049926"/>
            <a:ext cx="7837843" cy="0"/>
          </a:xfrm>
          <a:prstGeom prst="line">
            <a:avLst/>
          </a:prstGeom>
          <a:ln w="38100" cap="flat">
            <a:solidFill>
              <a:srgbClr val="00172C"/>
            </a:solidFill>
            <a:prstDash val="solid"/>
            <a:headEnd type="none" w="sm" len="sm"/>
            <a:tailEnd type="none" w="sm" len="sm"/>
          </a:ln>
        </p:spPr>
      </p:sp>
      <p:sp>
        <p:nvSpPr>
          <p:cNvPr id="11" name="Freeform 11"/>
          <p:cNvSpPr/>
          <p:nvPr/>
        </p:nvSpPr>
        <p:spPr>
          <a:xfrm>
            <a:off x="8003593" y="7417466"/>
            <a:ext cx="436851" cy="436851"/>
          </a:xfrm>
          <a:custGeom>
            <a:avLst/>
            <a:gdLst/>
            <a:ahLst/>
            <a:cxnLst/>
            <a:rect l="l" t="t" r="r" b="b"/>
            <a:pathLst>
              <a:path w="436851" h="436851">
                <a:moveTo>
                  <a:pt x="0" y="0"/>
                </a:moveTo>
                <a:lnTo>
                  <a:pt x="436851" y="0"/>
                </a:lnTo>
                <a:lnTo>
                  <a:pt x="436851" y="436851"/>
                </a:lnTo>
                <a:lnTo>
                  <a:pt x="0" y="43685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AutoShape 12"/>
          <p:cNvSpPr/>
          <p:nvPr/>
        </p:nvSpPr>
        <p:spPr>
          <a:xfrm>
            <a:off x="1016184" y="8939561"/>
            <a:ext cx="7837843" cy="0"/>
          </a:xfrm>
          <a:prstGeom prst="line">
            <a:avLst/>
          </a:prstGeom>
          <a:ln w="38100" cap="flat">
            <a:solidFill>
              <a:srgbClr val="00172C"/>
            </a:solidFill>
            <a:prstDash val="solid"/>
            <a:headEnd type="none" w="sm" len="sm"/>
            <a:tailEnd type="none" w="sm" len="sm"/>
          </a:ln>
        </p:spPr>
      </p:sp>
      <p:sp>
        <p:nvSpPr>
          <p:cNvPr id="13" name="Freeform 13"/>
          <p:cNvSpPr/>
          <p:nvPr/>
        </p:nvSpPr>
        <p:spPr>
          <a:xfrm>
            <a:off x="8003593" y="8307101"/>
            <a:ext cx="436851" cy="436851"/>
          </a:xfrm>
          <a:custGeom>
            <a:avLst/>
            <a:gdLst/>
            <a:ahLst/>
            <a:cxnLst/>
            <a:rect l="l" t="t" r="r" b="b"/>
            <a:pathLst>
              <a:path w="436851" h="436851">
                <a:moveTo>
                  <a:pt x="0" y="0"/>
                </a:moveTo>
                <a:lnTo>
                  <a:pt x="436851" y="0"/>
                </a:lnTo>
                <a:lnTo>
                  <a:pt x="436851" y="436851"/>
                </a:lnTo>
                <a:lnTo>
                  <a:pt x="0" y="43685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2" name="TextBox 22"/>
          <p:cNvSpPr txBox="1"/>
          <p:nvPr/>
        </p:nvSpPr>
        <p:spPr>
          <a:xfrm>
            <a:off x="1028700" y="1943697"/>
            <a:ext cx="7193318" cy="1538883"/>
          </a:xfrm>
          <a:prstGeom prst="rect">
            <a:avLst/>
          </a:prstGeom>
        </p:spPr>
        <p:txBody>
          <a:bodyPr lIns="0" tIns="0" rIns="0" bIns="0" rtlCol="0" anchor="t">
            <a:spAutoFit/>
          </a:bodyPr>
          <a:lstStyle/>
          <a:p>
            <a:pPr marL="0" lvl="0" indent="0" algn="l">
              <a:lnSpc>
                <a:spcPts val="5977"/>
              </a:lnSpc>
            </a:pPr>
            <a:r>
              <a:rPr lang="en-US" sz="5289" b="1" spc="-195" dirty="0">
                <a:solidFill>
                  <a:srgbClr val="00172C"/>
                </a:solidFill>
                <a:latin typeface="Times New Roman" panose="02020603050405020304" pitchFamily="18" charset="0"/>
                <a:ea typeface="Open Sauce Bold"/>
                <a:cs typeface="Times New Roman" panose="02020603050405020304" pitchFamily="18" charset="0"/>
                <a:sym typeface="Open Sauce Bold"/>
              </a:rPr>
              <a:t>PROBLEM STATEMENT</a:t>
            </a:r>
          </a:p>
        </p:txBody>
      </p:sp>
      <p:sp>
        <p:nvSpPr>
          <p:cNvPr id="23" name="TextBox 23"/>
          <p:cNvSpPr txBox="1"/>
          <p:nvPr/>
        </p:nvSpPr>
        <p:spPr>
          <a:xfrm>
            <a:off x="1028700" y="3568065"/>
            <a:ext cx="14820900" cy="713913"/>
          </a:xfrm>
          <a:prstGeom prst="rect">
            <a:avLst/>
          </a:prstGeom>
        </p:spPr>
        <p:txBody>
          <a:bodyPr wrap="square" lIns="0" tIns="0" rIns="0" bIns="0" rtlCol="0" anchor="t">
            <a:spAutoFit/>
          </a:bodyPr>
          <a:lstStyle/>
          <a:p>
            <a:pPr marL="0" lvl="0" indent="0" algn="l">
              <a:lnSpc>
                <a:spcPts val="2937"/>
              </a:lnSpc>
            </a:pPr>
            <a:r>
              <a:rPr lang="en-US" sz="2098" spc="33" dirty="0">
                <a:solidFill>
                  <a:srgbClr val="00172C"/>
                </a:solidFill>
                <a:latin typeface="Times New Roman" panose="02020603050405020304" pitchFamily="18" charset="0"/>
                <a:ea typeface="Open Sauce"/>
                <a:cs typeface="Times New Roman" panose="02020603050405020304" pitchFamily="18" charset="0"/>
                <a:sym typeface="Open Sauce"/>
              </a:rPr>
              <a:t>Current fitness and nutrition applications face critical limitations that compromise user safety and effectiveness. These systemic issues particularly impact users with specific dietary needs, medical conditions, or those seeking holistic wellness guidance.</a:t>
            </a:r>
          </a:p>
        </p:txBody>
      </p:sp>
      <p:sp>
        <p:nvSpPr>
          <p:cNvPr id="24" name="TextBox 24"/>
          <p:cNvSpPr txBox="1"/>
          <p:nvPr/>
        </p:nvSpPr>
        <p:spPr>
          <a:xfrm>
            <a:off x="2094089" y="928416"/>
            <a:ext cx="1755880" cy="218008"/>
          </a:xfrm>
          <a:prstGeom prst="rect">
            <a:avLst/>
          </a:prstGeom>
        </p:spPr>
        <p:txBody>
          <a:bodyPr lIns="0" tIns="0" rIns="0" bIns="0" rtlCol="0" anchor="t">
            <a:spAutoFit/>
          </a:bodyPr>
          <a:lstStyle/>
          <a:p>
            <a:pPr marL="0" lvl="0" indent="0" algn="l">
              <a:lnSpc>
                <a:spcPts val="1658"/>
              </a:lnSpc>
            </a:pPr>
            <a:r>
              <a:rPr lang="en-US" sz="1468" b="1" spc="23">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sp>
        <p:nvSpPr>
          <p:cNvPr id="25" name="TextBox 25"/>
          <p:cNvSpPr txBox="1"/>
          <p:nvPr/>
        </p:nvSpPr>
        <p:spPr>
          <a:xfrm>
            <a:off x="1028700" y="5609621"/>
            <a:ext cx="4533900" cy="269304"/>
          </a:xfrm>
          <a:prstGeom prst="rect">
            <a:avLst/>
          </a:prstGeom>
        </p:spPr>
        <p:txBody>
          <a:bodyPr wrap="square" lIns="0" tIns="0" rIns="0" bIns="0" rtlCol="0" anchor="t">
            <a:spAutoFit/>
          </a:bodyPr>
          <a:lstStyle/>
          <a:p>
            <a:pPr marL="0" lvl="0" indent="0" algn="l">
              <a:lnSpc>
                <a:spcPts val="2091"/>
              </a:lnSpc>
            </a:pPr>
            <a:r>
              <a:rPr lang="en-US" b="1" dirty="0">
                <a:solidFill>
                  <a:srgbClr val="0063C2"/>
                </a:solidFill>
                <a:latin typeface="Times New Roman" panose="02020603050405020304" pitchFamily="18" charset="0"/>
                <a:ea typeface="Open Sauce Bold"/>
                <a:cs typeface="Times New Roman" panose="02020603050405020304" pitchFamily="18" charset="0"/>
                <a:sym typeface="Open Sauce Bold"/>
              </a:rPr>
              <a:t>Apps hallucinate macros, ignore Indian diets.</a:t>
            </a:r>
          </a:p>
        </p:txBody>
      </p:sp>
      <p:sp>
        <p:nvSpPr>
          <p:cNvPr id="26" name="TextBox 26"/>
          <p:cNvSpPr txBox="1"/>
          <p:nvPr/>
        </p:nvSpPr>
        <p:spPr>
          <a:xfrm>
            <a:off x="1028700" y="6499256"/>
            <a:ext cx="6229024" cy="269304"/>
          </a:xfrm>
          <a:prstGeom prst="rect">
            <a:avLst/>
          </a:prstGeom>
        </p:spPr>
        <p:txBody>
          <a:bodyPr lIns="0" tIns="0" rIns="0" bIns="0" rtlCol="0" anchor="t">
            <a:spAutoFit/>
          </a:bodyPr>
          <a:lstStyle/>
          <a:p>
            <a:pPr marL="0" lvl="0" indent="0" algn="l">
              <a:lnSpc>
                <a:spcPts val="2091"/>
              </a:lnSpc>
            </a:pPr>
            <a:r>
              <a:rPr lang="en-US" b="1">
                <a:solidFill>
                  <a:srgbClr val="0063C2"/>
                </a:solidFill>
                <a:latin typeface="Times New Roman" panose="02020603050405020304" pitchFamily="18" charset="0"/>
                <a:ea typeface="Open Sauce Bold"/>
                <a:cs typeface="Times New Roman" panose="02020603050405020304" pitchFamily="18" charset="0"/>
                <a:sym typeface="Open Sauce Bold"/>
              </a:rPr>
              <a:t>No injury-aware guidance risks physical harm.</a:t>
            </a:r>
          </a:p>
        </p:txBody>
      </p:sp>
      <p:sp>
        <p:nvSpPr>
          <p:cNvPr id="27" name="TextBox 27"/>
          <p:cNvSpPr txBox="1"/>
          <p:nvPr/>
        </p:nvSpPr>
        <p:spPr>
          <a:xfrm>
            <a:off x="1028700" y="7388891"/>
            <a:ext cx="4232381" cy="269304"/>
          </a:xfrm>
          <a:prstGeom prst="rect">
            <a:avLst/>
          </a:prstGeom>
        </p:spPr>
        <p:txBody>
          <a:bodyPr lIns="0" tIns="0" rIns="0" bIns="0" rtlCol="0" anchor="t">
            <a:spAutoFit/>
          </a:bodyPr>
          <a:lstStyle/>
          <a:p>
            <a:pPr marL="0" lvl="0" indent="0" algn="l">
              <a:lnSpc>
                <a:spcPts val="2091"/>
              </a:lnSpc>
            </a:pPr>
            <a:r>
              <a:rPr lang="en-US" b="1">
                <a:solidFill>
                  <a:srgbClr val="0063C2"/>
                </a:solidFill>
                <a:latin typeface="Times New Roman" panose="02020603050405020304" pitchFamily="18" charset="0"/>
                <a:ea typeface="Open Sauce Bold"/>
                <a:cs typeface="Times New Roman" panose="02020603050405020304" pitchFamily="18" charset="0"/>
                <a:sym typeface="Open Sauce Bold"/>
              </a:rPr>
              <a:t>Data leakage causes inaccurate predictions.</a:t>
            </a:r>
          </a:p>
        </p:txBody>
      </p:sp>
      <p:sp>
        <p:nvSpPr>
          <p:cNvPr id="28" name="TextBox 28"/>
          <p:cNvSpPr txBox="1"/>
          <p:nvPr/>
        </p:nvSpPr>
        <p:spPr>
          <a:xfrm>
            <a:off x="1028700" y="8278526"/>
            <a:ext cx="6229024" cy="269304"/>
          </a:xfrm>
          <a:prstGeom prst="rect">
            <a:avLst/>
          </a:prstGeom>
        </p:spPr>
        <p:txBody>
          <a:bodyPr lIns="0" tIns="0" rIns="0" bIns="0" rtlCol="0" anchor="t">
            <a:spAutoFit/>
          </a:bodyPr>
          <a:lstStyle/>
          <a:p>
            <a:pPr marL="0" lvl="0" indent="0" algn="l">
              <a:lnSpc>
                <a:spcPts val="2091"/>
              </a:lnSpc>
            </a:pPr>
            <a:r>
              <a:rPr lang="en-US" b="1">
                <a:solidFill>
                  <a:srgbClr val="0063C2"/>
                </a:solidFill>
                <a:latin typeface="Times New Roman" panose="02020603050405020304" pitchFamily="18" charset="0"/>
                <a:ea typeface="Open Sauce Bold"/>
                <a:cs typeface="Times New Roman" panose="02020603050405020304" pitchFamily="18" charset="0"/>
                <a:sym typeface="Open Sauce Bold"/>
              </a:rPr>
              <a:t>Underuse of multi-agent AI for holistic care.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693183"/>
            <a:ext cx="3081706" cy="671033"/>
            <a:chOff x="0" y="0"/>
            <a:chExt cx="1160243" cy="252640"/>
          </a:xfrm>
        </p:grpSpPr>
        <p:sp>
          <p:nvSpPr>
            <p:cNvPr id="3" name="Freeform 3"/>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4" name="TextBox 4"/>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18" name="Group 18"/>
          <p:cNvGrpSpPr/>
          <p:nvPr/>
        </p:nvGrpSpPr>
        <p:grpSpPr>
          <a:xfrm>
            <a:off x="1028700" y="4168282"/>
            <a:ext cx="5595797" cy="5090018"/>
            <a:chOff x="0" y="0"/>
            <a:chExt cx="1421662" cy="1293164"/>
          </a:xfrm>
        </p:grpSpPr>
        <p:sp>
          <p:nvSpPr>
            <p:cNvPr id="19" name="Freeform 19"/>
            <p:cNvSpPr/>
            <p:nvPr/>
          </p:nvSpPr>
          <p:spPr>
            <a:xfrm>
              <a:off x="0" y="0"/>
              <a:ext cx="1421662" cy="1293164"/>
            </a:xfrm>
            <a:custGeom>
              <a:avLst/>
              <a:gdLst/>
              <a:ahLst/>
              <a:cxnLst/>
              <a:rect l="l" t="t" r="r" b="b"/>
              <a:pathLst>
                <a:path w="1421662" h="1293164">
                  <a:moveTo>
                    <a:pt x="52574" y="0"/>
                  </a:moveTo>
                  <a:lnTo>
                    <a:pt x="1369088" y="0"/>
                  </a:lnTo>
                  <a:cubicBezTo>
                    <a:pt x="1398124" y="0"/>
                    <a:pt x="1421662" y="23538"/>
                    <a:pt x="1421662" y="52574"/>
                  </a:cubicBezTo>
                  <a:lnTo>
                    <a:pt x="1421662" y="1240590"/>
                  </a:lnTo>
                  <a:cubicBezTo>
                    <a:pt x="1421662" y="1254534"/>
                    <a:pt x="1416123" y="1267906"/>
                    <a:pt x="1406263" y="1277766"/>
                  </a:cubicBezTo>
                  <a:cubicBezTo>
                    <a:pt x="1396404" y="1287625"/>
                    <a:pt x="1383031" y="1293164"/>
                    <a:pt x="1369088" y="1293164"/>
                  </a:cubicBezTo>
                  <a:lnTo>
                    <a:pt x="52574" y="1293164"/>
                  </a:lnTo>
                  <a:cubicBezTo>
                    <a:pt x="38630" y="1293164"/>
                    <a:pt x="25258" y="1287625"/>
                    <a:pt x="15399" y="1277766"/>
                  </a:cubicBezTo>
                  <a:cubicBezTo>
                    <a:pt x="5539" y="1267906"/>
                    <a:pt x="0" y="1254534"/>
                    <a:pt x="0" y="1240590"/>
                  </a:cubicBezTo>
                  <a:lnTo>
                    <a:pt x="0" y="52574"/>
                  </a:lnTo>
                  <a:cubicBezTo>
                    <a:pt x="0" y="23538"/>
                    <a:pt x="23538" y="0"/>
                    <a:pt x="52574" y="0"/>
                  </a:cubicBezTo>
                  <a:close/>
                </a:path>
              </a:pathLst>
            </a:custGeom>
            <a:blipFill>
              <a:blip r:embed="rId2"/>
              <a:stretch>
                <a:fillRect t="-4968" b="-4968"/>
              </a:stretch>
            </a:blipFill>
          </p:spPr>
        </p:sp>
      </p:grpSp>
      <p:sp>
        <p:nvSpPr>
          <p:cNvPr id="32" name="TextBox 32"/>
          <p:cNvSpPr txBox="1"/>
          <p:nvPr/>
        </p:nvSpPr>
        <p:spPr>
          <a:xfrm>
            <a:off x="12571510" y="8028749"/>
            <a:ext cx="3738385" cy="668451"/>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sp>
        <p:nvSpPr>
          <p:cNvPr id="36" name="TextBox 36"/>
          <p:cNvSpPr txBox="1"/>
          <p:nvPr/>
        </p:nvSpPr>
        <p:spPr>
          <a:xfrm>
            <a:off x="2094089" y="928416"/>
            <a:ext cx="1755880" cy="179536"/>
          </a:xfrm>
          <a:prstGeom prst="rect">
            <a:avLst/>
          </a:prstGeom>
        </p:spPr>
        <p:txBody>
          <a:bodyPr lIns="0" tIns="0" rIns="0" bIns="0" rtlCol="0" anchor="t">
            <a:spAutoFit/>
          </a:bodyPr>
          <a:lstStyle/>
          <a:p>
            <a:pPr marL="0" lvl="0" indent="0" algn="l">
              <a:lnSpc>
                <a:spcPts val="1356"/>
              </a:lnSpc>
            </a:pPr>
            <a:r>
              <a:rPr lang="en-US" sz="1200" b="1" spc="19">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sp>
        <p:nvSpPr>
          <p:cNvPr id="37" name="TextBox 37"/>
          <p:cNvSpPr txBox="1"/>
          <p:nvPr/>
        </p:nvSpPr>
        <p:spPr>
          <a:xfrm>
            <a:off x="1105302" y="1949211"/>
            <a:ext cx="4533498" cy="833562"/>
          </a:xfrm>
          <a:prstGeom prst="rect">
            <a:avLst/>
          </a:prstGeom>
        </p:spPr>
        <p:txBody>
          <a:bodyPr wrap="square" lIns="0" tIns="0" rIns="0" bIns="0" rtlCol="0" anchor="t">
            <a:spAutoFit/>
          </a:bodyPr>
          <a:lstStyle/>
          <a:p>
            <a:pPr marL="0" lvl="0" indent="0" algn="l">
              <a:lnSpc>
                <a:spcPts val="6525"/>
              </a:lnSpc>
            </a:pPr>
            <a:r>
              <a:rPr lang="en-US" sz="5775" b="1" spc="-213" dirty="0">
                <a:solidFill>
                  <a:srgbClr val="00172C"/>
                </a:solidFill>
                <a:latin typeface="Times New Roman" panose="02020603050405020304" pitchFamily="18" charset="0"/>
                <a:ea typeface="Open Sauce Bold"/>
                <a:cs typeface="Times New Roman" panose="02020603050405020304" pitchFamily="18" charset="0"/>
                <a:sym typeface="Open Sauce Bold"/>
              </a:rPr>
              <a:t>OBJECTIVES</a:t>
            </a:r>
          </a:p>
        </p:txBody>
      </p:sp>
      <p:sp>
        <p:nvSpPr>
          <p:cNvPr id="45" name="TextBox 45"/>
          <p:cNvSpPr txBox="1"/>
          <p:nvPr/>
        </p:nvSpPr>
        <p:spPr>
          <a:xfrm>
            <a:off x="12898898" y="8158218"/>
            <a:ext cx="3307975" cy="258212"/>
          </a:xfrm>
          <a:prstGeom prst="rect">
            <a:avLst/>
          </a:prstGeom>
        </p:spPr>
        <p:txBody>
          <a:bodyPr lIns="0" tIns="0" rIns="0" bIns="0" rtlCol="0" anchor="t">
            <a:spAutoFit/>
          </a:bodyPr>
          <a:lstStyle/>
          <a:p>
            <a:pPr marL="0" lvl="0" indent="0" algn="l">
              <a:lnSpc>
                <a:spcPts val="2172"/>
              </a:lnSpc>
            </a:pPr>
            <a:r>
              <a:rPr lang="en-US" sz="1552" spc="24">
                <a:solidFill>
                  <a:srgbClr val="F8FCFF"/>
                </a:solidFill>
                <a:latin typeface="Times New Roman" panose="02020603050405020304" pitchFamily="18" charset="0"/>
                <a:ea typeface="Open Sauce"/>
                <a:cs typeface="Times New Roman" panose="02020603050405020304" pitchFamily="18" charset="0"/>
                <a:sym typeface="Open Sauce"/>
              </a:rPr>
              <a:t>FastAPI backend &amp; React frontend</a:t>
            </a:r>
          </a:p>
        </p:txBody>
      </p:sp>
      <p:sp>
        <p:nvSpPr>
          <p:cNvPr id="46" name="TextBox 45">
            <a:extLst>
              <a:ext uri="{FF2B5EF4-FFF2-40B4-BE49-F238E27FC236}">
                <a16:creationId xmlns:a16="http://schemas.microsoft.com/office/drawing/2014/main" id="{044A76F1-9EB7-23E5-A9BC-6773C3A9A62C}"/>
              </a:ext>
            </a:extLst>
          </p:cNvPr>
          <p:cNvSpPr txBox="1"/>
          <p:nvPr/>
        </p:nvSpPr>
        <p:spPr>
          <a:xfrm>
            <a:off x="8647210" y="4352648"/>
            <a:ext cx="7848600" cy="3970318"/>
          </a:xfrm>
          <a:prstGeom prst="rect">
            <a:avLst/>
          </a:prstGeom>
          <a:noFill/>
        </p:spPr>
        <p:txBody>
          <a:bodyPr wrap="square" rtlCol="0">
            <a:spAutoFit/>
          </a:bodyPr>
          <a:lstStyle/>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Develop a Culturally Relevant Diet Engine</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Ensure Clinical Safety through AI</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Optimize Predictive Accuracy</a:t>
            </a:r>
          </a:p>
          <a:p>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Promote Long-Term Engagement</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Deliver a Production-Ready Application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6886178" y="-2879430"/>
            <a:ext cx="13744178" cy="1610013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172C">
                    <a:alpha val="100000"/>
                  </a:srgbClr>
                </a:gs>
                <a:gs pos="100000">
                  <a:srgbClr val="2961BC">
                    <a:alpha val="100000"/>
                  </a:srgbClr>
                </a:gs>
              </a:gsLst>
              <a:lin ang="0"/>
            </a:gradFill>
          </p:spPr>
        </p:sp>
        <p:sp>
          <p:nvSpPr>
            <p:cNvPr id="4" name="TextBox 4"/>
            <p:cNvSpPr txBox="1"/>
            <p:nvPr/>
          </p:nvSpPr>
          <p:spPr>
            <a:xfrm>
              <a:off x="76200" y="85725"/>
              <a:ext cx="660400" cy="650875"/>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grpSp>
        <p:nvGrpSpPr>
          <p:cNvPr id="5" name="Group 5"/>
          <p:cNvGrpSpPr/>
          <p:nvPr/>
        </p:nvGrpSpPr>
        <p:grpSpPr>
          <a:xfrm>
            <a:off x="1028700" y="693183"/>
            <a:ext cx="3081706" cy="671033"/>
            <a:chOff x="0" y="0"/>
            <a:chExt cx="1160243" cy="252640"/>
          </a:xfrm>
        </p:grpSpPr>
        <p:sp>
          <p:nvSpPr>
            <p:cNvPr id="6" name="Freeform 6"/>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7" name="TextBox 7"/>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8327332" y="4254524"/>
            <a:ext cx="1773242" cy="177324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72C"/>
            </a:solidFill>
          </p:spPr>
        </p:sp>
        <p:sp>
          <p:nvSpPr>
            <p:cNvPr id="11" name="TextBox 11"/>
            <p:cNvSpPr txBox="1"/>
            <p:nvPr/>
          </p:nvSpPr>
          <p:spPr>
            <a:xfrm>
              <a:off x="76200" y="85725"/>
              <a:ext cx="660400" cy="650875"/>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7635553" y="1743042"/>
            <a:ext cx="1773242" cy="177324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72C"/>
            </a:solidFill>
          </p:spPr>
        </p:sp>
        <p:sp>
          <p:nvSpPr>
            <p:cNvPr id="14" name="TextBox 14"/>
            <p:cNvSpPr txBox="1"/>
            <p:nvPr/>
          </p:nvSpPr>
          <p:spPr>
            <a:xfrm>
              <a:off x="76200" y="85725"/>
              <a:ext cx="660400" cy="650875"/>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grpSp>
        <p:nvGrpSpPr>
          <p:cNvPr id="15" name="Group 15"/>
          <p:cNvGrpSpPr/>
          <p:nvPr/>
        </p:nvGrpSpPr>
        <p:grpSpPr>
          <a:xfrm>
            <a:off x="7635553" y="6770716"/>
            <a:ext cx="1773242" cy="17732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72C"/>
            </a:solidFill>
          </p:spPr>
        </p:sp>
        <p:sp>
          <p:nvSpPr>
            <p:cNvPr id="17" name="TextBox 17"/>
            <p:cNvSpPr txBox="1"/>
            <p:nvPr/>
          </p:nvSpPr>
          <p:spPr>
            <a:xfrm>
              <a:off x="76200" y="85725"/>
              <a:ext cx="660400" cy="650875"/>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sp>
        <p:nvSpPr>
          <p:cNvPr id="18" name="Freeform 18"/>
          <p:cNvSpPr/>
          <p:nvPr/>
        </p:nvSpPr>
        <p:spPr>
          <a:xfrm>
            <a:off x="8009656" y="7080347"/>
            <a:ext cx="900548" cy="1086021"/>
          </a:xfrm>
          <a:custGeom>
            <a:avLst/>
            <a:gdLst/>
            <a:ahLst/>
            <a:cxnLst/>
            <a:rect l="l" t="t" r="r" b="b"/>
            <a:pathLst>
              <a:path w="900548" h="1086021">
                <a:moveTo>
                  <a:pt x="0" y="0"/>
                </a:moveTo>
                <a:lnTo>
                  <a:pt x="900549" y="0"/>
                </a:lnTo>
                <a:lnTo>
                  <a:pt x="900549" y="1086021"/>
                </a:lnTo>
                <a:lnTo>
                  <a:pt x="0" y="1086021"/>
                </a:lnTo>
                <a:lnTo>
                  <a:pt x="0" y="0"/>
                </a:lnTo>
                <a:close/>
              </a:path>
            </a:pathLst>
          </a:custGeom>
          <a:blipFill>
            <a:blip r:embed="rId2"/>
            <a:stretch>
              <a:fillRect/>
            </a:stretch>
          </a:blipFill>
        </p:spPr>
      </p:sp>
      <p:sp>
        <p:nvSpPr>
          <p:cNvPr id="19" name="Freeform 19"/>
          <p:cNvSpPr/>
          <p:nvPr/>
        </p:nvSpPr>
        <p:spPr>
          <a:xfrm>
            <a:off x="8005966" y="2108296"/>
            <a:ext cx="1031657" cy="1040764"/>
          </a:xfrm>
          <a:custGeom>
            <a:avLst/>
            <a:gdLst/>
            <a:ahLst/>
            <a:cxnLst/>
            <a:rect l="l" t="t" r="r" b="b"/>
            <a:pathLst>
              <a:path w="1031657" h="1040764">
                <a:moveTo>
                  <a:pt x="0" y="0"/>
                </a:moveTo>
                <a:lnTo>
                  <a:pt x="1031657" y="0"/>
                </a:lnTo>
                <a:lnTo>
                  <a:pt x="1031657" y="1040764"/>
                </a:lnTo>
                <a:lnTo>
                  <a:pt x="0" y="1040764"/>
                </a:lnTo>
                <a:lnTo>
                  <a:pt x="0" y="0"/>
                </a:lnTo>
                <a:close/>
              </a:path>
            </a:pathLst>
          </a:custGeom>
          <a:blipFill>
            <a:blip r:embed="rId3"/>
            <a:stretch>
              <a:fillRect/>
            </a:stretch>
          </a:blipFill>
        </p:spPr>
      </p:sp>
      <p:sp>
        <p:nvSpPr>
          <p:cNvPr id="20" name="Freeform 20"/>
          <p:cNvSpPr/>
          <p:nvPr/>
        </p:nvSpPr>
        <p:spPr>
          <a:xfrm>
            <a:off x="8712904" y="4618406"/>
            <a:ext cx="997985" cy="991815"/>
          </a:xfrm>
          <a:custGeom>
            <a:avLst/>
            <a:gdLst/>
            <a:ahLst/>
            <a:cxnLst/>
            <a:rect l="l" t="t" r="r" b="b"/>
            <a:pathLst>
              <a:path w="997985" h="991815">
                <a:moveTo>
                  <a:pt x="0" y="0"/>
                </a:moveTo>
                <a:lnTo>
                  <a:pt x="997985" y="0"/>
                </a:lnTo>
                <a:lnTo>
                  <a:pt x="997985" y="991815"/>
                </a:lnTo>
                <a:lnTo>
                  <a:pt x="0" y="991815"/>
                </a:lnTo>
                <a:lnTo>
                  <a:pt x="0" y="0"/>
                </a:lnTo>
                <a:close/>
              </a:path>
            </a:pathLst>
          </a:custGeom>
          <a:blipFill>
            <a:blip r:embed="rId4"/>
            <a:stretch>
              <a:fillRect/>
            </a:stretch>
          </a:blipFill>
        </p:spPr>
      </p:sp>
      <p:sp>
        <p:nvSpPr>
          <p:cNvPr id="21" name="TextBox 21"/>
          <p:cNvSpPr txBox="1"/>
          <p:nvPr/>
        </p:nvSpPr>
        <p:spPr>
          <a:xfrm>
            <a:off x="1449638" y="3864050"/>
            <a:ext cx="4493962" cy="1533239"/>
          </a:xfrm>
          <a:prstGeom prst="rect">
            <a:avLst/>
          </a:prstGeom>
        </p:spPr>
        <p:txBody>
          <a:bodyPr wrap="square" lIns="0" tIns="0" rIns="0" bIns="0" rtlCol="0" anchor="t">
            <a:spAutoFit/>
          </a:bodyPr>
          <a:lstStyle/>
          <a:p>
            <a:pPr marL="0" lvl="0" indent="0" algn="l">
              <a:lnSpc>
                <a:spcPts val="6017"/>
              </a:lnSpc>
            </a:pPr>
            <a:r>
              <a:rPr lang="en-US" sz="5325" b="1" spc="-197" dirty="0">
                <a:solidFill>
                  <a:srgbClr val="F8FCFF"/>
                </a:solidFill>
                <a:latin typeface="Times New Roman" panose="02020603050405020304" pitchFamily="18" charset="0"/>
                <a:ea typeface="Open Sauce Bold"/>
                <a:cs typeface="Times New Roman" panose="02020603050405020304" pitchFamily="18" charset="0"/>
                <a:sym typeface="Open Sauce Bold"/>
              </a:rPr>
              <a:t>LITERATURE SURVEY</a:t>
            </a:r>
          </a:p>
        </p:txBody>
      </p:sp>
      <p:sp>
        <p:nvSpPr>
          <p:cNvPr id="22" name="TextBox 22"/>
          <p:cNvSpPr txBox="1"/>
          <p:nvPr/>
        </p:nvSpPr>
        <p:spPr>
          <a:xfrm>
            <a:off x="10721292" y="5130997"/>
            <a:ext cx="5912307" cy="1017685"/>
          </a:xfrm>
          <a:prstGeom prst="rect">
            <a:avLst/>
          </a:prstGeom>
        </p:spPr>
        <p:txBody>
          <a:bodyPr lIns="0" tIns="0" rIns="0" bIns="0" rtlCol="0" anchor="t">
            <a:spAutoFit/>
          </a:bodyPr>
          <a:lstStyle/>
          <a:p>
            <a:pPr marL="0" lvl="0" indent="0" algn="l">
              <a:lnSpc>
                <a:spcPts val="2707"/>
              </a:lnSpc>
            </a:pPr>
            <a:r>
              <a:rPr lang="en-US" sz="1933" spc="30">
                <a:solidFill>
                  <a:srgbClr val="00172C"/>
                </a:solidFill>
                <a:latin typeface="Times New Roman" panose="02020603050405020304" pitchFamily="18" charset="0"/>
                <a:ea typeface="Open Sauce"/>
                <a:cs typeface="Times New Roman" panose="02020603050405020304" pitchFamily="18" charset="0"/>
                <a:sym typeface="Open Sauce"/>
              </a:rPr>
              <a:t>Local food recognition systems estimate calories for Indian diets using wearable data for physiological metrics.</a:t>
            </a:r>
          </a:p>
        </p:txBody>
      </p:sp>
      <p:sp>
        <p:nvSpPr>
          <p:cNvPr id="23" name="TextBox 23"/>
          <p:cNvSpPr txBox="1"/>
          <p:nvPr/>
        </p:nvSpPr>
        <p:spPr>
          <a:xfrm>
            <a:off x="2094089" y="928416"/>
            <a:ext cx="1755880" cy="195732"/>
          </a:xfrm>
          <a:prstGeom prst="rect">
            <a:avLst/>
          </a:prstGeom>
        </p:spPr>
        <p:txBody>
          <a:bodyPr lIns="0" tIns="0" rIns="0" bIns="0" rtlCol="0" anchor="t">
            <a:spAutoFit/>
          </a:bodyPr>
          <a:lstStyle/>
          <a:p>
            <a:pPr marL="0" lvl="0" indent="0" algn="l">
              <a:lnSpc>
                <a:spcPts val="1528"/>
              </a:lnSpc>
            </a:pPr>
            <a:r>
              <a:rPr lang="en-US" sz="1352" b="1" spc="21">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sp>
        <p:nvSpPr>
          <p:cNvPr id="24" name="TextBox 24"/>
          <p:cNvSpPr txBox="1"/>
          <p:nvPr/>
        </p:nvSpPr>
        <p:spPr>
          <a:xfrm>
            <a:off x="10721292" y="4604518"/>
            <a:ext cx="5473845" cy="342017"/>
          </a:xfrm>
          <a:prstGeom prst="rect">
            <a:avLst/>
          </a:prstGeom>
        </p:spPr>
        <p:txBody>
          <a:bodyPr lIns="0" tIns="0" rIns="0" bIns="0" rtlCol="0" anchor="t">
            <a:spAutoFit/>
          </a:bodyPr>
          <a:lstStyle/>
          <a:p>
            <a:pPr marL="0" lvl="0" indent="0" algn="l">
              <a:lnSpc>
                <a:spcPts val="2937"/>
              </a:lnSpc>
            </a:pPr>
            <a:r>
              <a:rPr lang="en-US" sz="2098" b="1">
                <a:solidFill>
                  <a:srgbClr val="00172C"/>
                </a:solidFill>
                <a:latin typeface="Times New Roman" panose="02020603050405020304" pitchFamily="18" charset="0"/>
                <a:ea typeface="Open Sauce Bold"/>
                <a:cs typeface="Times New Roman" panose="02020603050405020304" pitchFamily="18" charset="0"/>
                <a:sym typeface="Open Sauce Bold"/>
              </a:rPr>
              <a:t>Indian-Focused AI Systems</a:t>
            </a:r>
          </a:p>
        </p:txBody>
      </p:sp>
      <p:sp>
        <p:nvSpPr>
          <p:cNvPr id="25" name="TextBox 25"/>
          <p:cNvSpPr txBox="1"/>
          <p:nvPr/>
        </p:nvSpPr>
        <p:spPr>
          <a:xfrm>
            <a:off x="1449638" y="5992021"/>
            <a:ext cx="5196120" cy="1017685"/>
          </a:xfrm>
          <a:prstGeom prst="rect">
            <a:avLst/>
          </a:prstGeom>
        </p:spPr>
        <p:txBody>
          <a:bodyPr lIns="0" tIns="0" rIns="0" bIns="0" rtlCol="0" anchor="t">
            <a:spAutoFit/>
          </a:bodyPr>
          <a:lstStyle/>
          <a:p>
            <a:pPr marL="0" lvl="0" indent="0" algn="l">
              <a:lnSpc>
                <a:spcPts val="2707"/>
              </a:lnSpc>
            </a:pPr>
            <a:r>
              <a:rPr lang="en-US" sz="1933" spc="30">
                <a:solidFill>
                  <a:srgbClr val="F8FCFF"/>
                </a:solidFill>
                <a:latin typeface="Times New Roman" panose="02020603050405020304" pitchFamily="18" charset="0"/>
                <a:ea typeface="Open Sauce"/>
                <a:cs typeface="Times New Roman" panose="02020603050405020304" pitchFamily="18" charset="0"/>
                <a:sym typeface="Open Sauce"/>
              </a:rPr>
              <a:t>AI and ML research demonstrates powerful capabilities for personalized health guidance and nutrition optimization.</a:t>
            </a:r>
          </a:p>
        </p:txBody>
      </p:sp>
      <p:sp>
        <p:nvSpPr>
          <p:cNvPr id="26" name="TextBox 26"/>
          <p:cNvSpPr txBox="1"/>
          <p:nvPr/>
        </p:nvSpPr>
        <p:spPr>
          <a:xfrm>
            <a:off x="10048510" y="7532909"/>
            <a:ext cx="5912307" cy="1017685"/>
          </a:xfrm>
          <a:prstGeom prst="rect">
            <a:avLst/>
          </a:prstGeom>
        </p:spPr>
        <p:txBody>
          <a:bodyPr lIns="0" tIns="0" rIns="0" bIns="0" rtlCol="0" anchor="t">
            <a:spAutoFit/>
          </a:bodyPr>
          <a:lstStyle/>
          <a:p>
            <a:pPr marL="0" lvl="0" indent="0" algn="l">
              <a:lnSpc>
                <a:spcPts val="2707"/>
              </a:lnSpc>
            </a:pPr>
            <a:r>
              <a:rPr lang="en-US" sz="1933" spc="30">
                <a:solidFill>
                  <a:srgbClr val="00172C"/>
                </a:solidFill>
                <a:latin typeface="Times New Roman" panose="02020603050405020304" pitchFamily="18" charset="0"/>
                <a:ea typeface="Open Sauce"/>
                <a:cs typeface="Times New Roman" panose="02020603050405020304" pitchFamily="18" charset="0"/>
                <a:sym typeface="Open Sauce"/>
              </a:rPr>
              <a:t>Research highlights nutrition's critical role in recovery: anti-inflammatory nutrients, proteins, and vitamins accelerate healing.</a:t>
            </a:r>
          </a:p>
        </p:txBody>
      </p:sp>
      <p:sp>
        <p:nvSpPr>
          <p:cNvPr id="27" name="TextBox 27"/>
          <p:cNvSpPr txBox="1"/>
          <p:nvPr/>
        </p:nvSpPr>
        <p:spPr>
          <a:xfrm>
            <a:off x="10048510" y="7006431"/>
            <a:ext cx="5473845" cy="342017"/>
          </a:xfrm>
          <a:prstGeom prst="rect">
            <a:avLst/>
          </a:prstGeom>
        </p:spPr>
        <p:txBody>
          <a:bodyPr lIns="0" tIns="0" rIns="0" bIns="0" rtlCol="0" anchor="t">
            <a:spAutoFit/>
          </a:bodyPr>
          <a:lstStyle/>
          <a:p>
            <a:pPr marL="0" lvl="0" indent="0" algn="l">
              <a:lnSpc>
                <a:spcPts val="2937"/>
              </a:lnSpc>
            </a:pPr>
            <a:r>
              <a:rPr lang="en-US" sz="2098" b="1">
                <a:solidFill>
                  <a:srgbClr val="00172C"/>
                </a:solidFill>
                <a:latin typeface="Times New Roman" panose="02020603050405020304" pitchFamily="18" charset="0"/>
                <a:ea typeface="Open Sauce Bold"/>
                <a:cs typeface="Times New Roman" panose="02020603050405020304" pitchFamily="18" charset="0"/>
                <a:sym typeface="Open Sauce Bold"/>
              </a:rPr>
              <a:t>Nutrition in Injury Recovery</a:t>
            </a:r>
          </a:p>
        </p:txBody>
      </p:sp>
      <p:sp>
        <p:nvSpPr>
          <p:cNvPr id="28" name="TextBox 28"/>
          <p:cNvSpPr txBox="1"/>
          <p:nvPr/>
        </p:nvSpPr>
        <p:spPr>
          <a:xfrm>
            <a:off x="10048510" y="2498114"/>
            <a:ext cx="6585089" cy="664028"/>
          </a:xfrm>
          <a:prstGeom prst="rect">
            <a:avLst/>
          </a:prstGeom>
        </p:spPr>
        <p:txBody>
          <a:bodyPr lIns="0" tIns="0" rIns="0" bIns="0" rtlCol="0" anchor="t">
            <a:spAutoFit/>
          </a:bodyPr>
          <a:lstStyle/>
          <a:p>
            <a:pPr marL="0" lvl="0" indent="0" algn="l">
              <a:lnSpc>
                <a:spcPts val="2707"/>
              </a:lnSpc>
            </a:pPr>
            <a:r>
              <a:rPr lang="en-US" sz="1933" spc="30" dirty="0">
                <a:solidFill>
                  <a:srgbClr val="00172C"/>
                </a:solidFill>
                <a:latin typeface="Times New Roman" panose="02020603050405020304" pitchFamily="18" charset="0"/>
                <a:ea typeface="Open Sauce"/>
                <a:cs typeface="Times New Roman" panose="02020603050405020304" pitchFamily="18" charset="0"/>
                <a:sym typeface="Open Sauce"/>
              </a:rPr>
              <a:t>AI personalizes dietary and fitness recommendations based on individual profiles; ML models guide healthier food choices.</a:t>
            </a:r>
          </a:p>
        </p:txBody>
      </p:sp>
      <p:sp>
        <p:nvSpPr>
          <p:cNvPr id="29" name="TextBox 29"/>
          <p:cNvSpPr txBox="1"/>
          <p:nvPr/>
        </p:nvSpPr>
        <p:spPr>
          <a:xfrm>
            <a:off x="10048510" y="1971636"/>
            <a:ext cx="5473845" cy="342017"/>
          </a:xfrm>
          <a:prstGeom prst="rect">
            <a:avLst/>
          </a:prstGeom>
        </p:spPr>
        <p:txBody>
          <a:bodyPr lIns="0" tIns="0" rIns="0" bIns="0" rtlCol="0" anchor="t">
            <a:spAutoFit/>
          </a:bodyPr>
          <a:lstStyle/>
          <a:p>
            <a:pPr marL="0" lvl="0" indent="0" algn="l">
              <a:lnSpc>
                <a:spcPts val="2937"/>
              </a:lnSpc>
            </a:pPr>
            <a:r>
              <a:rPr lang="en-US" sz="2098" b="1">
                <a:solidFill>
                  <a:srgbClr val="00172C"/>
                </a:solidFill>
                <a:latin typeface="Times New Roman" panose="02020603050405020304" pitchFamily="18" charset="0"/>
                <a:ea typeface="Open Sauce Bold"/>
                <a:cs typeface="Times New Roman" panose="02020603050405020304" pitchFamily="18" charset="0"/>
                <a:sym typeface="Open Sauce Bold"/>
              </a:rPr>
              <a:t>AI-Powered Personalization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693183"/>
            <a:ext cx="3081706" cy="671033"/>
            <a:chOff x="0" y="0"/>
            <a:chExt cx="1160243" cy="252640"/>
          </a:xfrm>
        </p:grpSpPr>
        <p:sp>
          <p:nvSpPr>
            <p:cNvPr id="3" name="Freeform 3"/>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4" name="TextBox 4"/>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6" name="TextBox 6"/>
          <p:cNvSpPr txBox="1"/>
          <p:nvPr/>
        </p:nvSpPr>
        <p:spPr>
          <a:xfrm>
            <a:off x="1028700" y="2028254"/>
            <a:ext cx="8964773" cy="933156"/>
          </a:xfrm>
          <a:prstGeom prst="rect">
            <a:avLst/>
          </a:prstGeom>
        </p:spPr>
        <p:txBody>
          <a:bodyPr lIns="0" tIns="0" rIns="0" bIns="0" rtlCol="0" anchor="t">
            <a:spAutoFit/>
          </a:bodyPr>
          <a:lstStyle/>
          <a:p>
            <a:pPr marL="0" lvl="0" indent="0" algn="l">
              <a:lnSpc>
                <a:spcPts val="7226"/>
              </a:lnSpc>
            </a:pPr>
            <a:r>
              <a:rPr lang="en-US" sz="6395" b="1" spc="-236">
                <a:solidFill>
                  <a:srgbClr val="00172C"/>
                </a:solidFill>
                <a:latin typeface="Times New Roman" panose="02020603050405020304" pitchFamily="18" charset="0"/>
                <a:ea typeface="Open Sauce Bold"/>
                <a:cs typeface="Times New Roman" panose="02020603050405020304" pitchFamily="18" charset="0"/>
                <a:sym typeface="Open Sauce Bold"/>
              </a:rPr>
              <a:t>METHODOLOGY</a:t>
            </a:r>
          </a:p>
        </p:txBody>
      </p:sp>
      <p:sp>
        <p:nvSpPr>
          <p:cNvPr id="7" name="TextBox 7"/>
          <p:cNvSpPr txBox="1"/>
          <p:nvPr/>
        </p:nvSpPr>
        <p:spPr>
          <a:xfrm>
            <a:off x="1122714" y="3262963"/>
            <a:ext cx="5341820" cy="621265"/>
          </a:xfrm>
          <a:prstGeom prst="rect">
            <a:avLst/>
          </a:prstGeom>
        </p:spPr>
        <p:txBody>
          <a:bodyPr lIns="0" tIns="0" rIns="0" bIns="0" rtlCol="0" anchor="t">
            <a:spAutoFit/>
          </a:bodyPr>
          <a:lstStyle/>
          <a:p>
            <a:pPr marL="0" lvl="0" indent="0" algn="l">
              <a:lnSpc>
                <a:spcPts val="2507"/>
              </a:lnSpc>
            </a:pPr>
            <a:r>
              <a:rPr lang="en-US" sz="2000" spc="28" dirty="0">
                <a:solidFill>
                  <a:srgbClr val="00172C"/>
                </a:solidFill>
                <a:latin typeface="Times New Roman" panose="02020603050405020304" pitchFamily="18" charset="0"/>
                <a:ea typeface="Open Sauce"/>
                <a:cs typeface="Times New Roman" panose="02020603050405020304" pitchFamily="18" charset="0"/>
                <a:sym typeface="Open Sauce"/>
              </a:rPr>
              <a:t>Core data, tools, and process used for FITYNTRA's AI-driven system development</a:t>
            </a:r>
            <a:r>
              <a:rPr lang="en-US" sz="1790" spc="28" dirty="0">
                <a:solidFill>
                  <a:srgbClr val="00172C"/>
                </a:solidFill>
                <a:latin typeface="Times New Roman" panose="02020603050405020304" pitchFamily="18" charset="0"/>
                <a:ea typeface="Open Sauce"/>
                <a:cs typeface="Times New Roman" panose="02020603050405020304" pitchFamily="18" charset="0"/>
                <a:sym typeface="Open Sauce"/>
              </a:rPr>
              <a:t>.</a:t>
            </a:r>
          </a:p>
        </p:txBody>
      </p:sp>
      <p:sp>
        <p:nvSpPr>
          <p:cNvPr id="8" name="TextBox 8"/>
          <p:cNvSpPr txBox="1"/>
          <p:nvPr/>
        </p:nvSpPr>
        <p:spPr>
          <a:xfrm>
            <a:off x="2094089" y="918891"/>
            <a:ext cx="1755880" cy="184379"/>
          </a:xfrm>
          <a:prstGeom prst="rect">
            <a:avLst/>
          </a:prstGeom>
        </p:spPr>
        <p:txBody>
          <a:bodyPr lIns="0" tIns="0" rIns="0" bIns="0" rtlCol="0" anchor="t">
            <a:spAutoFit/>
          </a:bodyPr>
          <a:lstStyle/>
          <a:p>
            <a:pPr marL="0" lvl="0" indent="0" algn="l">
              <a:lnSpc>
                <a:spcPts val="1415"/>
              </a:lnSpc>
            </a:pPr>
            <a:r>
              <a:rPr lang="en-US" sz="1252" b="1" spc="20">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grpSp>
        <p:nvGrpSpPr>
          <p:cNvPr id="9" name="Group 9"/>
          <p:cNvGrpSpPr/>
          <p:nvPr/>
        </p:nvGrpSpPr>
        <p:grpSpPr>
          <a:xfrm>
            <a:off x="12108626" y="1082573"/>
            <a:ext cx="5150674" cy="8175727"/>
            <a:chOff x="0" y="0"/>
            <a:chExt cx="1356556" cy="2153278"/>
          </a:xfrm>
        </p:grpSpPr>
        <p:sp>
          <p:nvSpPr>
            <p:cNvPr id="10" name="Freeform 10"/>
            <p:cNvSpPr/>
            <p:nvPr/>
          </p:nvSpPr>
          <p:spPr>
            <a:xfrm>
              <a:off x="0" y="0"/>
              <a:ext cx="1356556" cy="2153278"/>
            </a:xfrm>
            <a:custGeom>
              <a:avLst/>
              <a:gdLst/>
              <a:ahLst/>
              <a:cxnLst/>
              <a:rect l="l" t="t" r="r" b="b"/>
              <a:pathLst>
                <a:path w="1356556" h="2153278">
                  <a:moveTo>
                    <a:pt x="54111" y="0"/>
                  </a:moveTo>
                  <a:lnTo>
                    <a:pt x="1302445" y="0"/>
                  </a:lnTo>
                  <a:cubicBezTo>
                    <a:pt x="1316796" y="0"/>
                    <a:pt x="1330560" y="5701"/>
                    <a:pt x="1340707" y="15849"/>
                  </a:cubicBezTo>
                  <a:cubicBezTo>
                    <a:pt x="1350855" y="25997"/>
                    <a:pt x="1356556" y="39760"/>
                    <a:pt x="1356556" y="54111"/>
                  </a:cubicBezTo>
                  <a:lnTo>
                    <a:pt x="1356556" y="2099167"/>
                  </a:lnTo>
                  <a:cubicBezTo>
                    <a:pt x="1356556" y="2113518"/>
                    <a:pt x="1350855" y="2127281"/>
                    <a:pt x="1340707" y="2137429"/>
                  </a:cubicBezTo>
                  <a:cubicBezTo>
                    <a:pt x="1330560" y="2147577"/>
                    <a:pt x="1316796" y="2153278"/>
                    <a:pt x="1302445" y="2153278"/>
                  </a:cubicBezTo>
                  <a:lnTo>
                    <a:pt x="54111" y="2153278"/>
                  </a:lnTo>
                  <a:cubicBezTo>
                    <a:pt x="39760" y="2153278"/>
                    <a:pt x="25997" y="2147577"/>
                    <a:pt x="15849" y="2137429"/>
                  </a:cubicBezTo>
                  <a:cubicBezTo>
                    <a:pt x="5701" y="2127281"/>
                    <a:pt x="0" y="2113518"/>
                    <a:pt x="0" y="2099167"/>
                  </a:cubicBezTo>
                  <a:lnTo>
                    <a:pt x="0" y="54111"/>
                  </a:lnTo>
                  <a:cubicBezTo>
                    <a:pt x="0" y="39760"/>
                    <a:pt x="5701" y="25997"/>
                    <a:pt x="15849" y="15849"/>
                  </a:cubicBezTo>
                  <a:cubicBezTo>
                    <a:pt x="25997" y="5701"/>
                    <a:pt x="39760" y="0"/>
                    <a:pt x="54111" y="0"/>
                  </a:cubicBezTo>
                  <a:close/>
                </a:path>
              </a:pathLst>
            </a:custGeom>
            <a:solidFill>
              <a:srgbClr val="0063C2"/>
            </a:solidFill>
          </p:spPr>
        </p:sp>
        <p:sp>
          <p:nvSpPr>
            <p:cNvPr id="11" name="TextBox 11"/>
            <p:cNvSpPr txBox="1"/>
            <p:nvPr/>
          </p:nvSpPr>
          <p:spPr>
            <a:xfrm>
              <a:off x="0" y="9525"/>
              <a:ext cx="1356556" cy="2143753"/>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12685687" y="5417534"/>
            <a:ext cx="2420022" cy="342017"/>
          </a:xfrm>
          <a:prstGeom prst="rect">
            <a:avLst/>
          </a:prstGeom>
        </p:spPr>
        <p:txBody>
          <a:bodyPr lIns="0" tIns="0" rIns="0" bIns="0" rtlCol="0" anchor="t">
            <a:spAutoFit/>
          </a:bodyPr>
          <a:lstStyle/>
          <a:p>
            <a:pPr marL="0" lvl="0" indent="0" algn="l">
              <a:lnSpc>
                <a:spcPts val="2937"/>
              </a:lnSpc>
            </a:pPr>
            <a:r>
              <a:rPr lang="en-US" sz="2098" b="1">
                <a:solidFill>
                  <a:srgbClr val="F8FCFF"/>
                </a:solidFill>
                <a:latin typeface="Times New Roman" panose="02020603050405020304" pitchFamily="18" charset="0"/>
                <a:ea typeface="Open Sauce Bold"/>
                <a:cs typeface="Times New Roman" panose="02020603050405020304" pitchFamily="18" charset="0"/>
                <a:sym typeface="Open Sauce Bold"/>
              </a:rPr>
              <a:t>Process</a:t>
            </a:r>
          </a:p>
        </p:txBody>
      </p:sp>
      <p:sp>
        <p:nvSpPr>
          <p:cNvPr id="13" name="TextBox 13"/>
          <p:cNvSpPr txBox="1"/>
          <p:nvPr/>
        </p:nvSpPr>
        <p:spPr>
          <a:xfrm>
            <a:off x="12685687" y="6275610"/>
            <a:ext cx="4312239" cy="1897251"/>
          </a:xfrm>
          <a:prstGeom prst="rect">
            <a:avLst/>
          </a:prstGeom>
        </p:spPr>
        <p:txBody>
          <a:bodyPr lIns="0" tIns="0" rIns="0" bIns="0" rtlCol="0" anchor="t">
            <a:spAutoFit/>
          </a:bodyPr>
          <a:lstStyle/>
          <a:p>
            <a:pPr marL="0" lvl="0" indent="0" algn="l">
              <a:lnSpc>
                <a:spcPts val="2507"/>
              </a:lnSpc>
            </a:pP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Data cleaning, normalization, clinical keyword extraction via Regex. ML model upgrade from Random Forest to </a:t>
            </a:r>
            <a:r>
              <a:rPr lang="en-US" sz="1790" spc="28" dirty="0" err="1">
                <a:solidFill>
                  <a:srgbClr val="F8FCFF"/>
                </a:solidFill>
                <a:latin typeface="Times New Roman" panose="02020603050405020304" pitchFamily="18" charset="0"/>
                <a:ea typeface="Open Sauce"/>
                <a:cs typeface="Times New Roman" panose="02020603050405020304" pitchFamily="18" charset="0"/>
                <a:sym typeface="Open Sauce"/>
              </a:rPr>
              <a:t>XGBoost</a:t>
            </a: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 with Filter-and-Rank to avoid data leakage. Multi-agent NLP pipeline for injury classification.</a:t>
            </a:r>
          </a:p>
        </p:txBody>
      </p:sp>
      <p:grpSp>
        <p:nvGrpSpPr>
          <p:cNvPr id="14" name="Group 14"/>
          <p:cNvGrpSpPr/>
          <p:nvPr/>
        </p:nvGrpSpPr>
        <p:grpSpPr>
          <a:xfrm>
            <a:off x="6664236" y="3831605"/>
            <a:ext cx="5150674" cy="5426695"/>
            <a:chOff x="0" y="0"/>
            <a:chExt cx="1356556" cy="1429253"/>
          </a:xfrm>
        </p:grpSpPr>
        <p:sp>
          <p:nvSpPr>
            <p:cNvPr id="15" name="Freeform 15"/>
            <p:cNvSpPr/>
            <p:nvPr/>
          </p:nvSpPr>
          <p:spPr>
            <a:xfrm>
              <a:off x="0" y="0"/>
              <a:ext cx="1356556" cy="1429253"/>
            </a:xfrm>
            <a:custGeom>
              <a:avLst/>
              <a:gdLst/>
              <a:ahLst/>
              <a:cxnLst/>
              <a:rect l="l" t="t" r="r" b="b"/>
              <a:pathLst>
                <a:path w="1356556" h="1429253">
                  <a:moveTo>
                    <a:pt x="54111" y="0"/>
                  </a:moveTo>
                  <a:lnTo>
                    <a:pt x="1302445" y="0"/>
                  </a:lnTo>
                  <a:cubicBezTo>
                    <a:pt x="1316796" y="0"/>
                    <a:pt x="1330560" y="5701"/>
                    <a:pt x="1340707" y="15849"/>
                  </a:cubicBezTo>
                  <a:cubicBezTo>
                    <a:pt x="1350855" y="25997"/>
                    <a:pt x="1356556" y="39760"/>
                    <a:pt x="1356556" y="54111"/>
                  </a:cubicBezTo>
                  <a:lnTo>
                    <a:pt x="1356556" y="1375142"/>
                  </a:lnTo>
                  <a:cubicBezTo>
                    <a:pt x="1356556" y="1389493"/>
                    <a:pt x="1350855" y="1403256"/>
                    <a:pt x="1340707" y="1413404"/>
                  </a:cubicBezTo>
                  <a:cubicBezTo>
                    <a:pt x="1330560" y="1423552"/>
                    <a:pt x="1316796" y="1429253"/>
                    <a:pt x="1302445" y="1429253"/>
                  </a:cubicBezTo>
                  <a:lnTo>
                    <a:pt x="54111" y="1429253"/>
                  </a:lnTo>
                  <a:cubicBezTo>
                    <a:pt x="39760" y="1429253"/>
                    <a:pt x="25997" y="1423552"/>
                    <a:pt x="15849" y="1413404"/>
                  </a:cubicBezTo>
                  <a:cubicBezTo>
                    <a:pt x="5701" y="1403256"/>
                    <a:pt x="0" y="1389493"/>
                    <a:pt x="0" y="1375142"/>
                  </a:cubicBezTo>
                  <a:lnTo>
                    <a:pt x="0" y="54111"/>
                  </a:lnTo>
                  <a:cubicBezTo>
                    <a:pt x="0" y="39760"/>
                    <a:pt x="5701" y="25997"/>
                    <a:pt x="15849" y="15849"/>
                  </a:cubicBezTo>
                  <a:cubicBezTo>
                    <a:pt x="25997" y="5701"/>
                    <a:pt x="39760" y="0"/>
                    <a:pt x="54111" y="0"/>
                  </a:cubicBezTo>
                  <a:close/>
                </a:path>
              </a:pathLst>
            </a:custGeom>
            <a:solidFill>
              <a:srgbClr val="00172C"/>
            </a:solidFill>
          </p:spPr>
        </p:sp>
        <p:sp>
          <p:nvSpPr>
            <p:cNvPr id="16" name="TextBox 16"/>
            <p:cNvSpPr txBox="1"/>
            <p:nvPr/>
          </p:nvSpPr>
          <p:spPr>
            <a:xfrm>
              <a:off x="0" y="9525"/>
              <a:ext cx="1356556" cy="1419728"/>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grpSp>
        <p:nvGrpSpPr>
          <p:cNvPr id="17" name="Group 17"/>
          <p:cNvGrpSpPr/>
          <p:nvPr/>
        </p:nvGrpSpPr>
        <p:grpSpPr>
          <a:xfrm>
            <a:off x="1122714" y="5060293"/>
            <a:ext cx="5150674" cy="4095570"/>
            <a:chOff x="0" y="0"/>
            <a:chExt cx="1356556" cy="1078669"/>
          </a:xfrm>
        </p:grpSpPr>
        <p:sp>
          <p:nvSpPr>
            <p:cNvPr id="18" name="Freeform 18"/>
            <p:cNvSpPr/>
            <p:nvPr/>
          </p:nvSpPr>
          <p:spPr>
            <a:xfrm>
              <a:off x="0" y="0"/>
              <a:ext cx="1356556" cy="1078669"/>
            </a:xfrm>
            <a:custGeom>
              <a:avLst/>
              <a:gdLst/>
              <a:ahLst/>
              <a:cxnLst/>
              <a:rect l="l" t="t" r="r" b="b"/>
              <a:pathLst>
                <a:path w="1356556" h="1078669">
                  <a:moveTo>
                    <a:pt x="54111" y="0"/>
                  </a:moveTo>
                  <a:lnTo>
                    <a:pt x="1302445" y="0"/>
                  </a:lnTo>
                  <a:cubicBezTo>
                    <a:pt x="1316796" y="0"/>
                    <a:pt x="1330560" y="5701"/>
                    <a:pt x="1340707" y="15849"/>
                  </a:cubicBezTo>
                  <a:cubicBezTo>
                    <a:pt x="1350855" y="25997"/>
                    <a:pt x="1356556" y="39760"/>
                    <a:pt x="1356556" y="54111"/>
                  </a:cubicBezTo>
                  <a:lnTo>
                    <a:pt x="1356556" y="1024557"/>
                  </a:lnTo>
                  <a:cubicBezTo>
                    <a:pt x="1356556" y="1038909"/>
                    <a:pt x="1350855" y="1052672"/>
                    <a:pt x="1340707" y="1062820"/>
                  </a:cubicBezTo>
                  <a:cubicBezTo>
                    <a:pt x="1330560" y="1072968"/>
                    <a:pt x="1316796" y="1078669"/>
                    <a:pt x="1302445" y="1078669"/>
                  </a:cubicBezTo>
                  <a:lnTo>
                    <a:pt x="54111" y="1078669"/>
                  </a:lnTo>
                  <a:cubicBezTo>
                    <a:pt x="39760" y="1078669"/>
                    <a:pt x="25997" y="1072968"/>
                    <a:pt x="15849" y="1062820"/>
                  </a:cubicBezTo>
                  <a:cubicBezTo>
                    <a:pt x="5701" y="1052672"/>
                    <a:pt x="0" y="1038909"/>
                    <a:pt x="0" y="1024557"/>
                  </a:cubicBezTo>
                  <a:lnTo>
                    <a:pt x="0" y="54111"/>
                  </a:lnTo>
                  <a:cubicBezTo>
                    <a:pt x="0" y="39760"/>
                    <a:pt x="5701" y="25997"/>
                    <a:pt x="15849" y="15849"/>
                  </a:cubicBezTo>
                  <a:cubicBezTo>
                    <a:pt x="25997" y="5701"/>
                    <a:pt x="39760" y="0"/>
                    <a:pt x="54111" y="0"/>
                  </a:cubicBezTo>
                  <a:close/>
                </a:path>
              </a:pathLst>
            </a:custGeom>
            <a:solidFill>
              <a:srgbClr val="0063C2"/>
            </a:solidFill>
          </p:spPr>
        </p:sp>
        <p:sp>
          <p:nvSpPr>
            <p:cNvPr id="19" name="TextBox 19"/>
            <p:cNvSpPr txBox="1"/>
            <p:nvPr/>
          </p:nvSpPr>
          <p:spPr>
            <a:xfrm>
              <a:off x="0" y="9525"/>
              <a:ext cx="1356556" cy="1069144"/>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sp>
        <p:nvSpPr>
          <p:cNvPr id="20" name="TextBox 20"/>
          <p:cNvSpPr txBox="1"/>
          <p:nvPr/>
        </p:nvSpPr>
        <p:spPr>
          <a:xfrm>
            <a:off x="1804866" y="5942692"/>
            <a:ext cx="2420022" cy="342017"/>
          </a:xfrm>
          <a:prstGeom prst="rect">
            <a:avLst/>
          </a:prstGeom>
        </p:spPr>
        <p:txBody>
          <a:bodyPr lIns="0" tIns="0" rIns="0" bIns="0" rtlCol="0" anchor="t">
            <a:spAutoFit/>
          </a:bodyPr>
          <a:lstStyle/>
          <a:p>
            <a:pPr marL="0" lvl="0" indent="0" algn="l">
              <a:lnSpc>
                <a:spcPts val="2937"/>
              </a:lnSpc>
            </a:pPr>
            <a:r>
              <a:rPr lang="en-US" sz="2098" b="1">
                <a:solidFill>
                  <a:srgbClr val="F8FCFF"/>
                </a:solidFill>
                <a:latin typeface="Times New Roman" panose="02020603050405020304" pitchFamily="18" charset="0"/>
                <a:ea typeface="Open Sauce Bold"/>
                <a:cs typeface="Times New Roman" panose="02020603050405020304" pitchFamily="18" charset="0"/>
                <a:sym typeface="Open Sauce Bold"/>
              </a:rPr>
              <a:t>Datasets</a:t>
            </a:r>
          </a:p>
        </p:txBody>
      </p:sp>
      <p:sp>
        <p:nvSpPr>
          <p:cNvPr id="21" name="TextBox 21"/>
          <p:cNvSpPr txBox="1"/>
          <p:nvPr/>
        </p:nvSpPr>
        <p:spPr>
          <a:xfrm>
            <a:off x="1804866" y="6800767"/>
            <a:ext cx="4213587" cy="935590"/>
          </a:xfrm>
          <a:prstGeom prst="rect">
            <a:avLst/>
          </a:prstGeom>
        </p:spPr>
        <p:txBody>
          <a:bodyPr lIns="0" tIns="0" rIns="0" bIns="0" rtlCol="0" anchor="t">
            <a:spAutoFit/>
          </a:bodyPr>
          <a:lstStyle/>
          <a:p>
            <a:pPr marL="0" lvl="0" indent="0" algn="l">
              <a:lnSpc>
                <a:spcPts val="2507"/>
              </a:lnSpc>
            </a:pP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ICMR-NIN Indian nutrition database, </a:t>
            </a:r>
            <a:r>
              <a:rPr lang="en-US" sz="1790" spc="28" dirty="0" err="1">
                <a:solidFill>
                  <a:srgbClr val="F8FCFF"/>
                </a:solidFill>
                <a:latin typeface="Times New Roman" panose="02020603050405020304" pitchFamily="18" charset="0"/>
                <a:ea typeface="Open Sauce"/>
                <a:cs typeface="Times New Roman" panose="02020603050405020304" pitchFamily="18" charset="0"/>
                <a:sym typeface="Open Sauce"/>
              </a:rPr>
              <a:t>Physiopedia</a:t>
            </a: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 rehab protocols, synthesized user biometrics data.</a:t>
            </a:r>
          </a:p>
        </p:txBody>
      </p:sp>
      <p:sp>
        <p:nvSpPr>
          <p:cNvPr id="22" name="TextBox 22"/>
          <p:cNvSpPr txBox="1"/>
          <p:nvPr/>
        </p:nvSpPr>
        <p:spPr>
          <a:xfrm>
            <a:off x="7430238" y="4938410"/>
            <a:ext cx="2420022" cy="342017"/>
          </a:xfrm>
          <a:prstGeom prst="rect">
            <a:avLst/>
          </a:prstGeom>
        </p:spPr>
        <p:txBody>
          <a:bodyPr lIns="0" tIns="0" rIns="0" bIns="0" rtlCol="0" anchor="t">
            <a:spAutoFit/>
          </a:bodyPr>
          <a:lstStyle/>
          <a:p>
            <a:pPr marL="0" lvl="0" indent="0" algn="l">
              <a:lnSpc>
                <a:spcPts val="2937"/>
              </a:lnSpc>
            </a:pPr>
            <a:r>
              <a:rPr lang="en-US" sz="2098" b="1">
                <a:solidFill>
                  <a:srgbClr val="F8FCFF"/>
                </a:solidFill>
                <a:latin typeface="Times New Roman" panose="02020603050405020304" pitchFamily="18" charset="0"/>
                <a:ea typeface="Open Sauce Bold"/>
                <a:cs typeface="Times New Roman" panose="02020603050405020304" pitchFamily="18" charset="0"/>
                <a:sym typeface="Open Sauce Bold"/>
              </a:rPr>
              <a:t>Tools</a:t>
            </a:r>
          </a:p>
        </p:txBody>
      </p:sp>
      <p:sp>
        <p:nvSpPr>
          <p:cNvPr id="23" name="TextBox 23"/>
          <p:cNvSpPr txBox="1"/>
          <p:nvPr/>
        </p:nvSpPr>
        <p:spPr>
          <a:xfrm>
            <a:off x="7430238" y="5796486"/>
            <a:ext cx="4090520" cy="1564240"/>
          </a:xfrm>
          <a:prstGeom prst="rect">
            <a:avLst/>
          </a:prstGeom>
        </p:spPr>
        <p:txBody>
          <a:bodyPr lIns="0" tIns="0" rIns="0" bIns="0" rtlCol="0" anchor="t">
            <a:spAutoFit/>
          </a:bodyPr>
          <a:lstStyle/>
          <a:p>
            <a:pPr lvl="0">
              <a:lnSpc>
                <a:spcPts val="2507"/>
              </a:lnSpc>
            </a:pP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Python, Scikit-Learn, </a:t>
            </a:r>
            <a:r>
              <a:rPr lang="en-US" sz="1790" spc="28" dirty="0" err="1">
                <a:solidFill>
                  <a:srgbClr val="F8FCFF"/>
                </a:solidFill>
                <a:latin typeface="Times New Roman" panose="02020603050405020304" pitchFamily="18" charset="0"/>
                <a:ea typeface="Open Sauce"/>
                <a:cs typeface="Times New Roman" panose="02020603050405020304" pitchFamily="18" charset="0"/>
                <a:sym typeface="Open Sauce"/>
              </a:rPr>
              <a:t>XGBoost</a:t>
            </a: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 for ML models. </a:t>
            </a:r>
            <a:r>
              <a:rPr lang="en-US" sz="1790" spc="28" dirty="0" err="1">
                <a:solidFill>
                  <a:srgbClr val="F8FCFF"/>
                </a:solidFill>
                <a:latin typeface="Times New Roman" panose="02020603050405020304" pitchFamily="18" charset="0"/>
                <a:ea typeface="Open Sauce"/>
                <a:cs typeface="Times New Roman" panose="02020603050405020304" pitchFamily="18" charset="0"/>
                <a:sym typeface="Open Sauce"/>
              </a:rPr>
              <a:t>FastAPI</a:t>
            </a: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 backend, React.js frontend. Anthropic Claude 3.5 and </a:t>
            </a:r>
            <a:r>
              <a:rPr lang="en-US" sz="1790" spc="28" dirty="0" err="1">
                <a:solidFill>
                  <a:srgbClr val="F8FCFF"/>
                </a:solidFill>
                <a:latin typeface="Times New Roman" panose="02020603050405020304" pitchFamily="18" charset="0"/>
                <a:ea typeface="Open Sauce"/>
                <a:cs typeface="Times New Roman" panose="02020603050405020304" pitchFamily="18" charset="0"/>
                <a:sym typeface="Open Sauce"/>
              </a:rPr>
              <a:t>groq's</a:t>
            </a:r>
            <a:r>
              <a:rPr lang="en-US" sz="1790" spc="28" dirty="0">
                <a:solidFill>
                  <a:srgbClr val="F8FCFF"/>
                </a:solidFill>
                <a:latin typeface="Times New Roman" panose="02020603050405020304" pitchFamily="18" charset="0"/>
                <a:ea typeface="Open Sauce"/>
                <a:cs typeface="Times New Roman" panose="02020603050405020304" pitchFamily="18" charset="0"/>
                <a:sym typeface="Open Sauce"/>
              </a:rPr>
              <a:t> llama 3.3 for NLP virtual coaching capabilities.</a:t>
            </a:r>
          </a:p>
        </p:txBody>
      </p:sp>
      <p:sp>
        <p:nvSpPr>
          <p:cNvPr id="24" name="Freeform 24"/>
          <p:cNvSpPr/>
          <p:nvPr/>
        </p:nvSpPr>
        <p:spPr>
          <a:xfrm>
            <a:off x="14431530" y="1458402"/>
            <a:ext cx="2652562" cy="2558702"/>
          </a:xfrm>
          <a:custGeom>
            <a:avLst/>
            <a:gdLst/>
            <a:ahLst/>
            <a:cxnLst/>
            <a:rect l="l" t="t" r="r" b="b"/>
            <a:pathLst>
              <a:path w="2652562" h="2558702">
                <a:moveTo>
                  <a:pt x="0" y="0"/>
                </a:moveTo>
                <a:lnTo>
                  <a:pt x="2652562" y="0"/>
                </a:lnTo>
                <a:lnTo>
                  <a:pt x="2652562" y="2558702"/>
                </a:lnTo>
                <a:lnTo>
                  <a:pt x="0" y="2558702"/>
                </a:lnTo>
                <a:lnTo>
                  <a:pt x="0" y="0"/>
                </a:lnTo>
                <a:close/>
              </a:path>
            </a:pathLst>
          </a:custGeom>
          <a:blipFill>
            <a:blip r:embed="rId2"/>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693183"/>
            <a:ext cx="3081706" cy="671033"/>
            <a:chOff x="0" y="0"/>
            <a:chExt cx="1160243" cy="252640"/>
          </a:xfrm>
        </p:grpSpPr>
        <p:sp>
          <p:nvSpPr>
            <p:cNvPr id="3" name="Freeform 3"/>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4" name="TextBox 4"/>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6" name="TextBox 6"/>
          <p:cNvSpPr txBox="1"/>
          <p:nvPr/>
        </p:nvSpPr>
        <p:spPr>
          <a:xfrm>
            <a:off x="1028700" y="1714500"/>
            <a:ext cx="7086600" cy="654025"/>
          </a:xfrm>
          <a:prstGeom prst="rect">
            <a:avLst/>
          </a:prstGeom>
        </p:spPr>
        <p:txBody>
          <a:bodyPr wrap="square" lIns="0" tIns="0" rIns="0" bIns="0" rtlCol="0" anchor="t">
            <a:spAutoFit/>
          </a:bodyPr>
          <a:lstStyle/>
          <a:p>
            <a:pPr marL="0" lvl="0" indent="0" algn="l">
              <a:lnSpc>
                <a:spcPts val="5144"/>
              </a:lnSpc>
            </a:pPr>
            <a:r>
              <a:rPr lang="en-US" sz="4552" b="1" spc="-168" dirty="0">
                <a:solidFill>
                  <a:srgbClr val="00172C"/>
                </a:solidFill>
                <a:latin typeface="Times New Roman" panose="02020603050405020304" pitchFamily="18" charset="0"/>
                <a:ea typeface="Open Sauce Bold"/>
                <a:cs typeface="Times New Roman" panose="02020603050405020304" pitchFamily="18" charset="0"/>
                <a:sym typeface="Open Sauce Bold"/>
              </a:rPr>
              <a:t>SYSTEM ARCHITECTURE</a:t>
            </a:r>
          </a:p>
        </p:txBody>
      </p:sp>
      <p:sp>
        <p:nvSpPr>
          <p:cNvPr id="8" name="TextBox 8"/>
          <p:cNvSpPr txBox="1"/>
          <p:nvPr/>
        </p:nvSpPr>
        <p:spPr>
          <a:xfrm>
            <a:off x="2094089" y="937941"/>
            <a:ext cx="1755880" cy="192360"/>
          </a:xfrm>
          <a:prstGeom prst="rect">
            <a:avLst/>
          </a:prstGeom>
        </p:spPr>
        <p:txBody>
          <a:bodyPr lIns="0" tIns="0" rIns="0" bIns="0" rtlCol="0" anchor="t">
            <a:spAutoFit/>
          </a:bodyPr>
          <a:lstStyle/>
          <a:p>
            <a:pPr marL="0" lvl="0" indent="0" algn="l">
              <a:lnSpc>
                <a:spcPts val="1493"/>
              </a:lnSpc>
            </a:pPr>
            <a:r>
              <a:rPr lang="en-US" sz="1321" b="1" spc="21" dirty="0">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pic>
        <p:nvPicPr>
          <p:cNvPr id="7" name="Picture 6">
            <a:extLst>
              <a:ext uri="{FF2B5EF4-FFF2-40B4-BE49-F238E27FC236}">
                <a16:creationId xmlns:a16="http://schemas.microsoft.com/office/drawing/2014/main" id="{8B717858-6198-2AA7-0831-2B018448A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2754451"/>
            <a:ext cx="15240000" cy="6715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28F0EFD-09DE-8C7A-3473-D68A6EEA99A3}"/>
              </a:ext>
            </a:extLst>
          </p:cNvPr>
          <p:cNvGrpSpPr/>
          <p:nvPr/>
        </p:nvGrpSpPr>
        <p:grpSpPr>
          <a:xfrm>
            <a:off x="917581" y="653876"/>
            <a:ext cx="3081706" cy="671033"/>
            <a:chOff x="0" y="0"/>
            <a:chExt cx="1160243" cy="252640"/>
          </a:xfrm>
        </p:grpSpPr>
        <p:sp>
          <p:nvSpPr>
            <p:cNvPr id="3" name="Freeform 3">
              <a:extLst>
                <a:ext uri="{FF2B5EF4-FFF2-40B4-BE49-F238E27FC236}">
                  <a16:creationId xmlns:a16="http://schemas.microsoft.com/office/drawing/2014/main" id="{92E78614-D57A-B8C5-0C2B-1B24F48C2626}"/>
                </a:ext>
              </a:extLst>
            </p:cNvPr>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4" name="TextBox 4">
              <a:extLst>
                <a:ext uri="{FF2B5EF4-FFF2-40B4-BE49-F238E27FC236}">
                  <a16:creationId xmlns:a16="http://schemas.microsoft.com/office/drawing/2014/main" id="{A9281D4C-ACF5-1692-7B68-6E3E1B834285}"/>
                </a:ext>
              </a:extLst>
            </p:cNvPr>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5" name="TextBox 4">
            <a:extLst>
              <a:ext uri="{FF2B5EF4-FFF2-40B4-BE49-F238E27FC236}">
                <a16:creationId xmlns:a16="http://schemas.microsoft.com/office/drawing/2014/main" id="{C4452B19-D4AD-DEF3-4547-2B98F8731163}"/>
              </a:ext>
            </a:extLst>
          </p:cNvPr>
          <p:cNvSpPr txBox="1"/>
          <p:nvPr/>
        </p:nvSpPr>
        <p:spPr>
          <a:xfrm>
            <a:off x="1752600" y="844033"/>
            <a:ext cx="1411669" cy="290721"/>
          </a:xfrm>
          <a:prstGeom prst="rect">
            <a:avLst/>
          </a:prstGeom>
          <a:noFill/>
        </p:spPr>
        <p:txBody>
          <a:bodyPr wrap="none" rtlCol="0">
            <a:spAutoFit/>
          </a:bodyPr>
          <a:lstStyle/>
          <a:p>
            <a:pPr lvl="0">
              <a:lnSpc>
                <a:spcPts val="1493"/>
              </a:lnSpc>
            </a:pPr>
            <a:r>
              <a:rPr lang="en-US" b="1" spc="21" dirty="0">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sp>
        <p:nvSpPr>
          <p:cNvPr id="6" name="Title 5">
            <a:extLst>
              <a:ext uri="{FF2B5EF4-FFF2-40B4-BE49-F238E27FC236}">
                <a16:creationId xmlns:a16="http://schemas.microsoft.com/office/drawing/2014/main" id="{5EDACD81-6945-330F-3244-39C928062267}"/>
              </a:ext>
            </a:extLst>
          </p:cNvPr>
          <p:cNvSpPr>
            <a:spLocks noGrp="1"/>
          </p:cNvSpPr>
          <p:nvPr>
            <p:ph type="title"/>
          </p:nvPr>
        </p:nvSpPr>
        <p:spPr>
          <a:xfrm>
            <a:off x="1295400" y="1515066"/>
            <a:ext cx="15087600" cy="1143000"/>
          </a:xfrm>
        </p:spPr>
        <p:txBody>
          <a:bodyPr/>
          <a:lstStyle/>
          <a:p>
            <a:r>
              <a:rPr lang="en-US" b="1" dirty="0">
                <a:latin typeface="Times New Roman" panose="02020603050405020304" pitchFamily="18" charset="0"/>
                <a:cs typeface="Times New Roman" panose="02020603050405020304" pitchFamily="18" charset="0"/>
              </a:rPr>
              <a:t>ML MODELLING RESULTS</a:t>
            </a:r>
            <a:endParaRPr lang="en-IN" b="1"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40CCB156-0A11-9E87-0F70-F8D9E5996F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2600" y="2848224"/>
            <a:ext cx="14935200" cy="7172076"/>
          </a:xfrm>
          <a:prstGeom prst="rect">
            <a:avLst/>
          </a:prstGeom>
        </p:spPr>
      </p:pic>
    </p:spTree>
    <p:extLst>
      <p:ext uri="{BB962C8B-B14F-4D97-AF65-F5344CB8AC3E}">
        <p14:creationId xmlns:p14="http://schemas.microsoft.com/office/powerpoint/2010/main" val="2213278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95300"/>
            <a:ext cx="3081706" cy="671033"/>
            <a:chOff x="0" y="0"/>
            <a:chExt cx="1160243" cy="252640"/>
          </a:xfrm>
        </p:grpSpPr>
        <p:sp>
          <p:nvSpPr>
            <p:cNvPr id="3" name="Freeform 3"/>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4" name="TextBox 4"/>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5334244" y="1166333"/>
            <a:ext cx="7619511" cy="704616"/>
          </a:xfrm>
          <a:prstGeom prst="rect">
            <a:avLst/>
          </a:prstGeom>
        </p:spPr>
        <p:txBody>
          <a:bodyPr lIns="0" tIns="0" rIns="0" bIns="0" rtlCol="0" anchor="t">
            <a:spAutoFit/>
          </a:bodyPr>
          <a:lstStyle/>
          <a:p>
            <a:pPr marL="0" lvl="0" indent="0" algn="ctr">
              <a:lnSpc>
                <a:spcPts val="6053"/>
              </a:lnSpc>
            </a:pPr>
            <a:r>
              <a:rPr lang="en-US" sz="4000" b="1" spc="-198" dirty="0">
                <a:solidFill>
                  <a:srgbClr val="00172C"/>
                </a:solidFill>
                <a:latin typeface="Times New Roman" panose="02020603050405020304" pitchFamily="18" charset="0"/>
                <a:ea typeface="Open Sauce Bold"/>
                <a:cs typeface="Times New Roman" panose="02020603050405020304" pitchFamily="18" charset="0"/>
                <a:sym typeface="Open Sauce Bold"/>
              </a:rPr>
              <a:t>RESULTS &amp;OUTCOMES</a:t>
            </a:r>
          </a:p>
        </p:txBody>
      </p:sp>
      <p:sp>
        <p:nvSpPr>
          <p:cNvPr id="11" name="TextBox 11"/>
          <p:cNvSpPr txBox="1"/>
          <p:nvPr/>
        </p:nvSpPr>
        <p:spPr>
          <a:xfrm>
            <a:off x="2094089" y="768121"/>
            <a:ext cx="1755880" cy="184379"/>
          </a:xfrm>
          <a:prstGeom prst="rect">
            <a:avLst/>
          </a:prstGeom>
        </p:spPr>
        <p:txBody>
          <a:bodyPr lIns="0" tIns="0" rIns="0" bIns="0" rtlCol="0" anchor="t">
            <a:spAutoFit/>
          </a:bodyPr>
          <a:lstStyle/>
          <a:p>
            <a:pPr marL="0" lvl="0" indent="0" algn="l">
              <a:lnSpc>
                <a:spcPts val="1415"/>
              </a:lnSpc>
            </a:pPr>
            <a:r>
              <a:rPr lang="en-US" sz="1252" b="1" spc="20" dirty="0">
                <a:solidFill>
                  <a:srgbClr val="F8FCFF"/>
                </a:solidFill>
                <a:latin typeface="Open Sauce Bold"/>
                <a:ea typeface="Open Sauce Bold"/>
                <a:cs typeface="Open Sauce Bold"/>
                <a:sym typeface="Open Sauce Bold"/>
              </a:rPr>
              <a:t>FITYNTRA</a:t>
            </a:r>
          </a:p>
        </p:txBody>
      </p:sp>
      <p:pic>
        <p:nvPicPr>
          <p:cNvPr id="25" name="Picture 24">
            <a:extLst>
              <a:ext uri="{FF2B5EF4-FFF2-40B4-BE49-F238E27FC236}">
                <a16:creationId xmlns:a16="http://schemas.microsoft.com/office/drawing/2014/main" id="{AA8CE339-2FAD-F3DC-8411-07E6B28A5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644" y="2705100"/>
            <a:ext cx="8750955" cy="5410200"/>
          </a:xfrm>
          <a:prstGeom prst="rect">
            <a:avLst/>
          </a:prstGeom>
        </p:spPr>
      </p:pic>
      <p:pic>
        <p:nvPicPr>
          <p:cNvPr id="27" name="Picture 26">
            <a:extLst>
              <a:ext uri="{FF2B5EF4-FFF2-40B4-BE49-F238E27FC236}">
                <a16:creationId xmlns:a16="http://schemas.microsoft.com/office/drawing/2014/main" id="{A39C0C1A-12B7-FF68-FEE6-D52F1F2FED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2690420"/>
            <a:ext cx="8903355" cy="5424879"/>
          </a:xfrm>
          <a:prstGeom prst="rect">
            <a:avLst/>
          </a:prstGeom>
        </p:spPr>
      </p:pic>
      <p:sp>
        <p:nvSpPr>
          <p:cNvPr id="29" name="TextBox 10">
            <a:extLst>
              <a:ext uri="{FF2B5EF4-FFF2-40B4-BE49-F238E27FC236}">
                <a16:creationId xmlns:a16="http://schemas.microsoft.com/office/drawing/2014/main" id="{BC76FAD0-0C08-4314-0FAB-0B14E0960F76}"/>
              </a:ext>
            </a:extLst>
          </p:cNvPr>
          <p:cNvSpPr txBox="1"/>
          <p:nvPr/>
        </p:nvSpPr>
        <p:spPr>
          <a:xfrm>
            <a:off x="1077617" y="8191500"/>
            <a:ext cx="6313784" cy="670825"/>
          </a:xfrm>
          <a:prstGeom prst="rect">
            <a:avLst/>
          </a:prstGeom>
        </p:spPr>
        <p:txBody>
          <a:bodyPr wrap="square" lIns="0" tIns="0" rIns="0" bIns="0" rtlCol="0" anchor="t">
            <a:spAutoFit/>
          </a:bodyPr>
          <a:lstStyle/>
          <a:p>
            <a:pPr marL="0" lvl="0" indent="0" algn="ctr">
              <a:lnSpc>
                <a:spcPts val="6053"/>
              </a:lnSpc>
            </a:pPr>
            <a:r>
              <a:rPr lang="en-US" sz="2800" spc="-198" dirty="0">
                <a:solidFill>
                  <a:srgbClr val="00172C"/>
                </a:solidFill>
                <a:latin typeface="Times New Roman" panose="02020603050405020304" pitchFamily="18" charset="0"/>
                <a:ea typeface="Open Sauce Bold"/>
                <a:cs typeface="Times New Roman" panose="02020603050405020304" pitchFamily="18" charset="0"/>
                <a:sym typeface="Open Sauce Bold"/>
              </a:rPr>
              <a:t>Fig 1: Login page</a:t>
            </a:r>
          </a:p>
        </p:txBody>
      </p:sp>
      <p:sp>
        <p:nvSpPr>
          <p:cNvPr id="32" name="TextBox 10">
            <a:extLst>
              <a:ext uri="{FF2B5EF4-FFF2-40B4-BE49-F238E27FC236}">
                <a16:creationId xmlns:a16="http://schemas.microsoft.com/office/drawing/2014/main" id="{F556565E-754A-14BE-E592-B6A23931A7D4}"/>
              </a:ext>
            </a:extLst>
          </p:cNvPr>
          <p:cNvSpPr txBox="1"/>
          <p:nvPr/>
        </p:nvSpPr>
        <p:spPr>
          <a:xfrm>
            <a:off x="10896599" y="8177981"/>
            <a:ext cx="6313784" cy="670825"/>
          </a:xfrm>
          <a:prstGeom prst="rect">
            <a:avLst/>
          </a:prstGeom>
        </p:spPr>
        <p:txBody>
          <a:bodyPr wrap="square" lIns="0" tIns="0" rIns="0" bIns="0" rtlCol="0" anchor="t">
            <a:spAutoFit/>
          </a:bodyPr>
          <a:lstStyle/>
          <a:p>
            <a:pPr marL="0" lvl="0" indent="0" algn="ctr">
              <a:lnSpc>
                <a:spcPts val="6053"/>
              </a:lnSpc>
            </a:pPr>
            <a:r>
              <a:rPr lang="en-US" sz="2800" spc="-198" dirty="0">
                <a:solidFill>
                  <a:srgbClr val="00172C"/>
                </a:solidFill>
                <a:latin typeface="Times New Roman" panose="02020603050405020304" pitchFamily="18" charset="0"/>
                <a:ea typeface="Open Sauce Bold"/>
                <a:cs typeface="Times New Roman" panose="02020603050405020304" pitchFamily="18" charset="0"/>
                <a:sym typeface="Open Sauce Bold"/>
              </a:rPr>
              <a:t>Fig 2: Dashboard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545E31C1-E162-5757-59C9-6974C206AA91}"/>
              </a:ext>
            </a:extLst>
          </p:cNvPr>
          <p:cNvGrpSpPr/>
          <p:nvPr/>
        </p:nvGrpSpPr>
        <p:grpSpPr>
          <a:xfrm>
            <a:off x="1028700" y="495300"/>
            <a:ext cx="3081706" cy="671033"/>
            <a:chOff x="0" y="0"/>
            <a:chExt cx="1160243" cy="252640"/>
          </a:xfrm>
        </p:grpSpPr>
        <p:sp>
          <p:nvSpPr>
            <p:cNvPr id="5" name="Freeform 3">
              <a:extLst>
                <a:ext uri="{FF2B5EF4-FFF2-40B4-BE49-F238E27FC236}">
                  <a16:creationId xmlns:a16="http://schemas.microsoft.com/office/drawing/2014/main" id="{FD09AF6F-EE26-6596-5214-77A887245B4D}"/>
                </a:ext>
              </a:extLst>
            </p:cNvPr>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6" name="TextBox 4">
              <a:extLst>
                <a:ext uri="{FF2B5EF4-FFF2-40B4-BE49-F238E27FC236}">
                  <a16:creationId xmlns:a16="http://schemas.microsoft.com/office/drawing/2014/main" id="{19742AD5-16F0-9DB1-7088-D419946AAA4E}"/>
                </a:ext>
              </a:extLst>
            </p:cNvPr>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11">
            <a:extLst>
              <a:ext uri="{FF2B5EF4-FFF2-40B4-BE49-F238E27FC236}">
                <a16:creationId xmlns:a16="http://schemas.microsoft.com/office/drawing/2014/main" id="{D0966C3D-1A5C-9F69-FE85-ECDEE7AAD079}"/>
              </a:ext>
            </a:extLst>
          </p:cNvPr>
          <p:cNvSpPr txBox="1"/>
          <p:nvPr/>
        </p:nvSpPr>
        <p:spPr>
          <a:xfrm>
            <a:off x="2094089" y="768121"/>
            <a:ext cx="1755880" cy="184379"/>
          </a:xfrm>
          <a:prstGeom prst="rect">
            <a:avLst/>
          </a:prstGeom>
        </p:spPr>
        <p:txBody>
          <a:bodyPr lIns="0" tIns="0" rIns="0" bIns="0" rtlCol="0" anchor="t">
            <a:spAutoFit/>
          </a:bodyPr>
          <a:lstStyle/>
          <a:p>
            <a:pPr marL="0" lvl="0" indent="0" algn="l">
              <a:lnSpc>
                <a:spcPts val="1415"/>
              </a:lnSpc>
            </a:pPr>
            <a:r>
              <a:rPr lang="en-US" sz="1252" b="1" spc="20" dirty="0">
                <a:solidFill>
                  <a:srgbClr val="F8FCFF"/>
                </a:solidFill>
                <a:latin typeface="Open Sauce Bold"/>
                <a:ea typeface="Open Sauce Bold"/>
                <a:cs typeface="Open Sauce Bold"/>
                <a:sym typeface="Open Sauce Bold"/>
              </a:rPr>
              <a:t>FITYNTRA</a:t>
            </a:r>
          </a:p>
        </p:txBody>
      </p:sp>
      <p:sp>
        <p:nvSpPr>
          <p:cNvPr id="9" name="TextBox 10">
            <a:extLst>
              <a:ext uri="{FF2B5EF4-FFF2-40B4-BE49-F238E27FC236}">
                <a16:creationId xmlns:a16="http://schemas.microsoft.com/office/drawing/2014/main" id="{175AC41C-0250-A9F1-62EA-ECE6E4B4B9D8}"/>
              </a:ext>
            </a:extLst>
          </p:cNvPr>
          <p:cNvSpPr txBox="1"/>
          <p:nvPr/>
        </p:nvSpPr>
        <p:spPr>
          <a:xfrm>
            <a:off x="5029200" y="1257300"/>
            <a:ext cx="7619511" cy="704616"/>
          </a:xfrm>
          <a:prstGeom prst="rect">
            <a:avLst/>
          </a:prstGeom>
        </p:spPr>
        <p:txBody>
          <a:bodyPr lIns="0" tIns="0" rIns="0" bIns="0" rtlCol="0" anchor="t">
            <a:spAutoFit/>
          </a:bodyPr>
          <a:lstStyle/>
          <a:p>
            <a:pPr marL="0" lvl="0" indent="0" algn="ctr">
              <a:lnSpc>
                <a:spcPts val="6053"/>
              </a:lnSpc>
            </a:pPr>
            <a:r>
              <a:rPr lang="en-US" sz="4000" b="1" spc="-198" dirty="0">
                <a:solidFill>
                  <a:srgbClr val="00172C"/>
                </a:solidFill>
                <a:latin typeface="Times New Roman" panose="02020603050405020304" pitchFamily="18" charset="0"/>
                <a:ea typeface="Open Sauce Bold"/>
                <a:cs typeface="Times New Roman" panose="02020603050405020304" pitchFamily="18" charset="0"/>
                <a:sym typeface="Open Sauce Bold"/>
              </a:rPr>
              <a:t>RESULTS &amp;OUTCOMES</a:t>
            </a:r>
          </a:p>
        </p:txBody>
      </p:sp>
      <p:pic>
        <p:nvPicPr>
          <p:cNvPr id="11" name="Picture 10">
            <a:extLst>
              <a:ext uri="{FF2B5EF4-FFF2-40B4-BE49-F238E27FC236}">
                <a16:creationId xmlns:a16="http://schemas.microsoft.com/office/drawing/2014/main" id="{7200FB36-99A5-CE01-689D-821200C24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552700"/>
            <a:ext cx="8686800" cy="5818170"/>
          </a:xfrm>
          <a:prstGeom prst="rect">
            <a:avLst/>
          </a:prstGeom>
        </p:spPr>
      </p:pic>
      <p:pic>
        <p:nvPicPr>
          <p:cNvPr id="13" name="Picture 12">
            <a:extLst>
              <a:ext uri="{FF2B5EF4-FFF2-40B4-BE49-F238E27FC236}">
                <a16:creationId xmlns:a16="http://schemas.microsoft.com/office/drawing/2014/main" id="{9CED3C7F-BA76-EB81-DDA9-E4AD75C181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2552701"/>
            <a:ext cx="8839200" cy="5818170"/>
          </a:xfrm>
          <a:prstGeom prst="rect">
            <a:avLst/>
          </a:prstGeom>
        </p:spPr>
      </p:pic>
      <p:sp>
        <p:nvSpPr>
          <p:cNvPr id="14" name="TextBox 10">
            <a:extLst>
              <a:ext uri="{FF2B5EF4-FFF2-40B4-BE49-F238E27FC236}">
                <a16:creationId xmlns:a16="http://schemas.microsoft.com/office/drawing/2014/main" id="{1147F958-70D8-8377-134C-6B14EA65BAD2}"/>
              </a:ext>
            </a:extLst>
          </p:cNvPr>
          <p:cNvSpPr txBox="1"/>
          <p:nvPr/>
        </p:nvSpPr>
        <p:spPr>
          <a:xfrm>
            <a:off x="10406708" y="8358875"/>
            <a:ext cx="6313784" cy="670825"/>
          </a:xfrm>
          <a:prstGeom prst="rect">
            <a:avLst/>
          </a:prstGeom>
        </p:spPr>
        <p:txBody>
          <a:bodyPr wrap="square" lIns="0" tIns="0" rIns="0" bIns="0" rtlCol="0" anchor="t">
            <a:spAutoFit/>
          </a:bodyPr>
          <a:lstStyle/>
          <a:p>
            <a:pPr marL="0" lvl="0" indent="0" algn="ctr">
              <a:lnSpc>
                <a:spcPts val="6053"/>
              </a:lnSpc>
            </a:pPr>
            <a:r>
              <a:rPr lang="en-US" sz="2800" spc="-198" dirty="0">
                <a:solidFill>
                  <a:srgbClr val="00172C"/>
                </a:solidFill>
                <a:latin typeface="Times New Roman" panose="02020603050405020304" pitchFamily="18" charset="0"/>
                <a:ea typeface="Open Sauce Bold"/>
                <a:cs typeface="Times New Roman" panose="02020603050405020304" pitchFamily="18" charset="0"/>
                <a:sym typeface="Open Sauce Bold"/>
              </a:rPr>
              <a:t>Fig 4: Workout Recommender page</a:t>
            </a:r>
          </a:p>
        </p:txBody>
      </p:sp>
      <p:sp>
        <p:nvSpPr>
          <p:cNvPr id="15" name="TextBox 10">
            <a:extLst>
              <a:ext uri="{FF2B5EF4-FFF2-40B4-BE49-F238E27FC236}">
                <a16:creationId xmlns:a16="http://schemas.microsoft.com/office/drawing/2014/main" id="{2FCAEA60-C0DE-F69F-1689-B1729A1EAB1D}"/>
              </a:ext>
            </a:extLst>
          </p:cNvPr>
          <p:cNvSpPr txBox="1"/>
          <p:nvPr/>
        </p:nvSpPr>
        <p:spPr>
          <a:xfrm>
            <a:off x="1491308" y="8370870"/>
            <a:ext cx="6313784" cy="670825"/>
          </a:xfrm>
          <a:prstGeom prst="rect">
            <a:avLst/>
          </a:prstGeom>
        </p:spPr>
        <p:txBody>
          <a:bodyPr wrap="square" lIns="0" tIns="0" rIns="0" bIns="0" rtlCol="0" anchor="t">
            <a:spAutoFit/>
          </a:bodyPr>
          <a:lstStyle/>
          <a:p>
            <a:pPr marL="0" lvl="0" indent="0" algn="ctr">
              <a:lnSpc>
                <a:spcPts val="6053"/>
              </a:lnSpc>
            </a:pPr>
            <a:r>
              <a:rPr lang="en-US" sz="2800" spc="-198" dirty="0">
                <a:solidFill>
                  <a:srgbClr val="00172C"/>
                </a:solidFill>
                <a:latin typeface="Times New Roman" panose="02020603050405020304" pitchFamily="18" charset="0"/>
                <a:ea typeface="Open Sauce Bold"/>
                <a:cs typeface="Times New Roman" panose="02020603050405020304" pitchFamily="18" charset="0"/>
                <a:sym typeface="Open Sauce Bold"/>
              </a:rPr>
              <a:t>Fig 3: Diet Recommender page</a:t>
            </a:r>
          </a:p>
        </p:txBody>
      </p:sp>
    </p:spTree>
    <p:extLst>
      <p:ext uri="{BB962C8B-B14F-4D97-AF65-F5344CB8AC3E}">
        <p14:creationId xmlns:p14="http://schemas.microsoft.com/office/powerpoint/2010/main" val="258205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7C91F00D-C112-241A-D5CB-AB9FFAD05135}"/>
              </a:ext>
            </a:extLst>
          </p:cNvPr>
          <p:cNvGrpSpPr/>
          <p:nvPr/>
        </p:nvGrpSpPr>
        <p:grpSpPr>
          <a:xfrm>
            <a:off x="1028700" y="495300"/>
            <a:ext cx="3081706" cy="671033"/>
            <a:chOff x="0" y="0"/>
            <a:chExt cx="1160243" cy="252640"/>
          </a:xfrm>
        </p:grpSpPr>
        <p:sp>
          <p:nvSpPr>
            <p:cNvPr id="5" name="Freeform 3">
              <a:extLst>
                <a:ext uri="{FF2B5EF4-FFF2-40B4-BE49-F238E27FC236}">
                  <a16:creationId xmlns:a16="http://schemas.microsoft.com/office/drawing/2014/main" id="{12DB71C0-FDAB-9854-3B02-81AF353D0961}"/>
                </a:ext>
              </a:extLst>
            </p:cNvPr>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6" name="TextBox 4">
              <a:extLst>
                <a:ext uri="{FF2B5EF4-FFF2-40B4-BE49-F238E27FC236}">
                  <a16:creationId xmlns:a16="http://schemas.microsoft.com/office/drawing/2014/main" id="{8F2D649C-5817-04DF-4EFE-2467F270BA7E}"/>
                </a:ext>
              </a:extLst>
            </p:cNvPr>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11">
            <a:extLst>
              <a:ext uri="{FF2B5EF4-FFF2-40B4-BE49-F238E27FC236}">
                <a16:creationId xmlns:a16="http://schemas.microsoft.com/office/drawing/2014/main" id="{4E56FF6D-78A9-7FCC-9FA7-98519F5DE3CA}"/>
              </a:ext>
            </a:extLst>
          </p:cNvPr>
          <p:cNvSpPr txBox="1"/>
          <p:nvPr/>
        </p:nvSpPr>
        <p:spPr>
          <a:xfrm>
            <a:off x="2094089" y="768121"/>
            <a:ext cx="1755880" cy="184379"/>
          </a:xfrm>
          <a:prstGeom prst="rect">
            <a:avLst/>
          </a:prstGeom>
        </p:spPr>
        <p:txBody>
          <a:bodyPr lIns="0" tIns="0" rIns="0" bIns="0" rtlCol="0" anchor="t">
            <a:spAutoFit/>
          </a:bodyPr>
          <a:lstStyle/>
          <a:p>
            <a:pPr marL="0" lvl="0" indent="0" algn="l">
              <a:lnSpc>
                <a:spcPts val="1415"/>
              </a:lnSpc>
            </a:pPr>
            <a:r>
              <a:rPr lang="en-US" sz="1252" b="1" spc="20" dirty="0">
                <a:solidFill>
                  <a:srgbClr val="F8FCFF"/>
                </a:solidFill>
                <a:latin typeface="Open Sauce Bold"/>
                <a:ea typeface="Open Sauce Bold"/>
                <a:cs typeface="Open Sauce Bold"/>
                <a:sym typeface="Open Sauce Bold"/>
              </a:rPr>
              <a:t>FITYNTRA</a:t>
            </a:r>
          </a:p>
        </p:txBody>
      </p:sp>
      <p:sp>
        <p:nvSpPr>
          <p:cNvPr id="9" name="TextBox 10">
            <a:extLst>
              <a:ext uri="{FF2B5EF4-FFF2-40B4-BE49-F238E27FC236}">
                <a16:creationId xmlns:a16="http://schemas.microsoft.com/office/drawing/2014/main" id="{B020DA6C-7F17-0001-BDC0-A1F05AE1CA66}"/>
              </a:ext>
            </a:extLst>
          </p:cNvPr>
          <p:cNvSpPr txBox="1"/>
          <p:nvPr/>
        </p:nvSpPr>
        <p:spPr>
          <a:xfrm>
            <a:off x="5334244" y="946355"/>
            <a:ext cx="7619511" cy="704616"/>
          </a:xfrm>
          <a:prstGeom prst="rect">
            <a:avLst/>
          </a:prstGeom>
        </p:spPr>
        <p:txBody>
          <a:bodyPr lIns="0" tIns="0" rIns="0" bIns="0" rtlCol="0" anchor="t">
            <a:spAutoFit/>
          </a:bodyPr>
          <a:lstStyle/>
          <a:p>
            <a:pPr marL="0" lvl="0" indent="0" algn="ctr">
              <a:lnSpc>
                <a:spcPts val="6053"/>
              </a:lnSpc>
            </a:pPr>
            <a:r>
              <a:rPr lang="en-US" sz="4000" b="1" spc="-198" dirty="0">
                <a:solidFill>
                  <a:srgbClr val="00172C"/>
                </a:solidFill>
                <a:latin typeface="Times New Roman" panose="02020603050405020304" pitchFamily="18" charset="0"/>
                <a:ea typeface="Open Sauce Bold"/>
                <a:cs typeface="Times New Roman" panose="02020603050405020304" pitchFamily="18" charset="0"/>
                <a:sym typeface="Open Sauce Bold"/>
              </a:rPr>
              <a:t>RESULTS &amp;OUTCOMES</a:t>
            </a:r>
          </a:p>
        </p:txBody>
      </p:sp>
      <p:pic>
        <p:nvPicPr>
          <p:cNvPr id="11" name="Picture 10">
            <a:extLst>
              <a:ext uri="{FF2B5EF4-FFF2-40B4-BE49-F238E27FC236}">
                <a16:creationId xmlns:a16="http://schemas.microsoft.com/office/drawing/2014/main" id="{A2FB08EA-BE2C-A525-6F21-DD69394EE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1" y="2476500"/>
            <a:ext cx="8686800" cy="6019800"/>
          </a:xfrm>
          <a:prstGeom prst="rect">
            <a:avLst/>
          </a:prstGeom>
        </p:spPr>
      </p:pic>
      <p:pic>
        <p:nvPicPr>
          <p:cNvPr id="13" name="Picture 12">
            <a:extLst>
              <a:ext uri="{FF2B5EF4-FFF2-40B4-BE49-F238E27FC236}">
                <a16:creationId xmlns:a16="http://schemas.microsoft.com/office/drawing/2014/main" id="{B3F55069-8B81-EDF3-CE66-5C994D8AA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2476500"/>
            <a:ext cx="8839199" cy="6019800"/>
          </a:xfrm>
          <a:prstGeom prst="rect">
            <a:avLst/>
          </a:prstGeom>
        </p:spPr>
      </p:pic>
      <p:sp>
        <p:nvSpPr>
          <p:cNvPr id="14" name="TextBox 10">
            <a:extLst>
              <a:ext uri="{FF2B5EF4-FFF2-40B4-BE49-F238E27FC236}">
                <a16:creationId xmlns:a16="http://schemas.microsoft.com/office/drawing/2014/main" id="{FC929231-FEF7-6116-710A-1336FF0CCECC}"/>
              </a:ext>
            </a:extLst>
          </p:cNvPr>
          <p:cNvSpPr txBox="1"/>
          <p:nvPr/>
        </p:nvSpPr>
        <p:spPr>
          <a:xfrm>
            <a:off x="10406708" y="8420100"/>
            <a:ext cx="6313784" cy="670825"/>
          </a:xfrm>
          <a:prstGeom prst="rect">
            <a:avLst/>
          </a:prstGeom>
        </p:spPr>
        <p:txBody>
          <a:bodyPr wrap="square" lIns="0" tIns="0" rIns="0" bIns="0" rtlCol="0" anchor="t">
            <a:spAutoFit/>
          </a:bodyPr>
          <a:lstStyle/>
          <a:p>
            <a:pPr marL="0" lvl="0" indent="0" algn="ctr">
              <a:lnSpc>
                <a:spcPts val="6053"/>
              </a:lnSpc>
            </a:pPr>
            <a:r>
              <a:rPr lang="en-US" sz="2800" spc="-198" dirty="0">
                <a:solidFill>
                  <a:srgbClr val="00172C"/>
                </a:solidFill>
                <a:latin typeface="Times New Roman" panose="02020603050405020304" pitchFamily="18" charset="0"/>
                <a:ea typeface="Open Sauce Bold"/>
                <a:cs typeface="Times New Roman" panose="02020603050405020304" pitchFamily="18" charset="0"/>
                <a:sym typeface="Open Sauce Bold"/>
              </a:rPr>
              <a:t>Fig 6: Community page</a:t>
            </a:r>
          </a:p>
        </p:txBody>
      </p:sp>
      <p:sp>
        <p:nvSpPr>
          <p:cNvPr id="15" name="TextBox 10">
            <a:extLst>
              <a:ext uri="{FF2B5EF4-FFF2-40B4-BE49-F238E27FC236}">
                <a16:creationId xmlns:a16="http://schemas.microsoft.com/office/drawing/2014/main" id="{44AA1A11-D5F3-F352-6B60-B7FCB722092F}"/>
              </a:ext>
            </a:extLst>
          </p:cNvPr>
          <p:cNvSpPr txBox="1"/>
          <p:nvPr/>
        </p:nvSpPr>
        <p:spPr>
          <a:xfrm>
            <a:off x="1491309" y="8420099"/>
            <a:ext cx="6313784" cy="670825"/>
          </a:xfrm>
          <a:prstGeom prst="rect">
            <a:avLst/>
          </a:prstGeom>
        </p:spPr>
        <p:txBody>
          <a:bodyPr wrap="square" lIns="0" tIns="0" rIns="0" bIns="0" rtlCol="0" anchor="t">
            <a:spAutoFit/>
          </a:bodyPr>
          <a:lstStyle/>
          <a:p>
            <a:pPr marL="0" lvl="0" indent="0" algn="ctr">
              <a:lnSpc>
                <a:spcPts val="6053"/>
              </a:lnSpc>
            </a:pPr>
            <a:r>
              <a:rPr lang="en-US" sz="2800" spc="-198" dirty="0">
                <a:solidFill>
                  <a:srgbClr val="00172C"/>
                </a:solidFill>
                <a:latin typeface="Times New Roman" panose="02020603050405020304" pitchFamily="18" charset="0"/>
                <a:ea typeface="Open Sauce Bold"/>
                <a:cs typeface="Times New Roman" panose="02020603050405020304" pitchFamily="18" charset="0"/>
                <a:sym typeface="Open Sauce Bold"/>
              </a:rPr>
              <a:t>Fig 5: Progress Tracker page</a:t>
            </a:r>
          </a:p>
        </p:txBody>
      </p:sp>
    </p:spTree>
    <p:extLst>
      <p:ext uri="{BB962C8B-B14F-4D97-AF65-F5344CB8AC3E}">
        <p14:creationId xmlns:p14="http://schemas.microsoft.com/office/powerpoint/2010/main" val="263642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CFF"/>
        </a:solidFill>
        <a:effectLst/>
      </p:bgPr>
    </p:bg>
    <p:spTree>
      <p:nvGrpSpPr>
        <p:cNvPr id="1" name=""/>
        <p:cNvGrpSpPr/>
        <p:nvPr/>
      </p:nvGrpSpPr>
      <p:grpSpPr>
        <a:xfrm>
          <a:off x="0" y="0"/>
          <a:ext cx="0" cy="0"/>
          <a:chOff x="0" y="0"/>
          <a:chExt cx="0" cy="0"/>
        </a:xfrm>
      </p:grpSpPr>
      <p:grpSp>
        <p:nvGrpSpPr>
          <p:cNvPr id="2" name="Group 2"/>
          <p:cNvGrpSpPr/>
          <p:nvPr/>
        </p:nvGrpSpPr>
        <p:grpSpPr>
          <a:xfrm>
            <a:off x="2021834" y="190500"/>
            <a:ext cx="15237466" cy="1103902"/>
            <a:chOff x="0" y="-38100"/>
            <a:chExt cx="4013160" cy="290740"/>
          </a:xfrm>
        </p:grpSpPr>
        <p:sp>
          <p:nvSpPr>
            <p:cNvPr id="3" name="Freeform 3"/>
            <p:cNvSpPr/>
            <p:nvPr/>
          </p:nvSpPr>
          <p:spPr>
            <a:xfrm>
              <a:off x="0" y="0"/>
              <a:ext cx="4013160" cy="252640"/>
            </a:xfrm>
            <a:custGeom>
              <a:avLst/>
              <a:gdLst/>
              <a:ahLst/>
              <a:cxnLst/>
              <a:rect l="l" t="t" r="r" b="b"/>
              <a:pathLst>
                <a:path w="4013160" h="252640">
                  <a:moveTo>
                    <a:pt x="25912" y="0"/>
                  </a:moveTo>
                  <a:lnTo>
                    <a:pt x="3987247" y="0"/>
                  </a:lnTo>
                  <a:cubicBezTo>
                    <a:pt x="4001558" y="0"/>
                    <a:pt x="4013160" y="11601"/>
                    <a:pt x="4013160" y="25912"/>
                  </a:cubicBezTo>
                  <a:lnTo>
                    <a:pt x="4013160" y="226727"/>
                  </a:lnTo>
                  <a:cubicBezTo>
                    <a:pt x="4013160" y="233600"/>
                    <a:pt x="4010430" y="240191"/>
                    <a:pt x="4005570" y="245050"/>
                  </a:cubicBezTo>
                  <a:cubicBezTo>
                    <a:pt x="4000711" y="249910"/>
                    <a:pt x="3994120" y="252640"/>
                    <a:pt x="3987247" y="252640"/>
                  </a:cubicBezTo>
                  <a:lnTo>
                    <a:pt x="25912" y="252640"/>
                  </a:lnTo>
                  <a:cubicBezTo>
                    <a:pt x="11601" y="252640"/>
                    <a:pt x="0" y="241038"/>
                    <a:pt x="0" y="226727"/>
                  </a:cubicBezTo>
                  <a:lnTo>
                    <a:pt x="0" y="25912"/>
                  </a:lnTo>
                  <a:cubicBezTo>
                    <a:pt x="0" y="19040"/>
                    <a:pt x="2730" y="12449"/>
                    <a:pt x="7590" y="7590"/>
                  </a:cubicBezTo>
                  <a:cubicBezTo>
                    <a:pt x="12449" y="2730"/>
                    <a:pt x="19040" y="0"/>
                    <a:pt x="25912" y="0"/>
                  </a:cubicBezTo>
                  <a:close/>
                </a:path>
              </a:pathLst>
            </a:custGeom>
            <a:solidFill>
              <a:srgbClr val="F8FCFF"/>
            </a:solidFill>
            <a:ln w="38100" cap="rnd">
              <a:solidFill>
                <a:srgbClr val="0063C2"/>
              </a:solidFill>
              <a:prstDash val="solid"/>
              <a:round/>
            </a:ln>
          </p:spPr>
        </p:sp>
        <p:sp>
          <p:nvSpPr>
            <p:cNvPr id="4" name="TextBox 4"/>
            <p:cNvSpPr txBox="1"/>
            <p:nvPr/>
          </p:nvSpPr>
          <p:spPr>
            <a:xfrm>
              <a:off x="0" y="-38100"/>
              <a:ext cx="4013160" cy="29074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028700" y="335161"/>
            <a:ext cx="4405296" cy="959241"/>
            <a:chOff x="0" y="0"/>
            <a:chExt cx="1160243" cy="252640"/>
          </a:xfrm>
        </p:grpSpPr>
        <p:sp>
          <p:nvSpPr>
            <p:cNvPr id="6" name="Freeform 6"/>
            <p:cNvSpPr/>
            <p:nvPr/>
          </p:nvSpPr>
          <p:spPr>
            <a:xfrm>
              <a:off x="0" y="0"/>
              <a:ext cx="1160243" cy="252640"/>
            </a:xfrm>
            <a:custGeom>
              <a:avLst/>
              <a:gdLst/>
              <a:ahLst/>
              <a:cxnLst/>
              <a:rect l="l" t="t" r="r" b="b"/>
              <a:pathLst>
                <a:path w="1160243" h="252640">
                  <a:moveTo>
                    <a:pt x="89628" y="0"/>
                  </a:moveTo>
                  <a:lnTo>
                    <a:pt x="1070614" y="0"/>
                  </a:lnTo>
                  <a:cubicBezTo>
                    <a:pt x="1120115" y="0"/>
                    <a:pt x="1160243" y="40128"/>
                    <a:pt x="1160243" y="89628"/>
                  </a:cubicBezTo>
                  <a:lnTo>
                    <a:pt x="1160243" y="163012"/>
                  </a:lnTo>
                  <a:cubicBezTo>
                    <a:pt x="1160243" y="186783"/>
                    <a:pt x="1150800" y="209580"/>
                    <a:pt x="1133991" y="226388"/>
                  </a:cubicBezTo>
                  <a:cubicBezTo>
                    <a:pt x="1117183" y="243197"/>
                    <a:pt x="1094385" y="252640"/>
                    <a:pt x="1070614" y="252640"/>
                  </a:cubicBezTo>
                  <a:lnTo>
                    <a:pt x="89628" y="252640"/>
                  </a:lnTo>
                  <a:cubicBezTo>
                    <a:pt x="65857" y="252640"/>
                    <a:pt x="43060" y="243197"/>
                    <a:pt x="26251" y="226388"/>
                  </a:cubicBezTo>
                  <a:cubicBezTo>
                    <a:pt x="9443" y="209580"/>
                    <a:pt x="0" y="186783"/>
                    <a:pt x="0" y="163012"/>
                  </a:cubicBezTo>
                  <a:lnTo>
                    <a:pt x="0" y="89628"/>
                  </a:lnTo>
                  <a:cubicBezTo>
                    <a:pt x="0" y="65857"/>
                    <a:pt x="9443" y="43060"/>
                    <a:pt x="26251" y="26251"/>
                  </a:cubicBezTo>
                  <a:cubicBezTo>
                    <a:pt x="43060" y="9443"/>
                    <a:pt x="65857" y="0"/>
                    <a:pt x="89628" y="0"/>
                  </a:cubicBezTo>
                  <a:close/>
                </a:path>
              </a:pathLst>
            </a:custGeom>
            <a:solidFill>
              <a:srgbClr val="0063C2"/>
            </a:solidFill>
          </p:spPr>
        </p:sp>
        <p:sp>
          <p:nvSpPr>
            <p:cNvPr id="7" name="TextBox 7"/>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2551673" y="667335"/>
            <a:ext cx="2510030" cy="304406"/>
          </a:xfrm>
          <a:prstGeom prst="rect">
            <a:avLst/>
          </a:prstGeom>
        </p:spPr>
        <p:txBody>
          <a:bodyPr lIns="0" tIns="0" rIns="0" bIns="0" rtlCol="0" anchor="t">
            <a:spAutoFit/>
          </a:bodyPr>
          <a:lstStyle/>
          <a:p>
            <a:pPr marL="0" lvl="0" indent="0" algn="l">
              <a:lnSpc>
                <a:spcPts val="2371"/>
              </a:lnSpc>
            </a:pPr>
            <a:r>
              <a:rPr lang="en-US" sz="2098" b="1" spc="33">
                <a:solidFill>
                  <a:srgbClr val="F8FCFF"/>
                </a:solidFill>
                <a:latin typeface="Open Sauce Bold"/>
                <a:ea typeface="Open Sauce Bold"/>
                <a:cs typeface="Open Sauce Bold"/>
                <a:sym typeface="Open Sauce Bold"/>
              </a:rPr>
              <a:t>FITYNTRA</a:t>
            </a:r>
          </a:p>
        </p:txBody>
      </p:sp>
      <p:sp>
        <p:nvSpPr>
          <p:cNvPr id="21" name="TextBox 21"/>
          <p:cNvSpPr txBox="1"/>
          <p:nvPr/>
        </p:nvSpPr>
        <p:spPr>
          <a:xfrm>
            <a:off x="10340479" y="679139"/>
            <a:ext cx="2005110" cy="173545"/>
          </a:xfrm>
          <a:prstGeom prst="rect">
            <a:avLst/>
          </a:prstGeom>
        </p:spPr>
        <p:txBody>
          <a:bodyPr lIns="0" tIns="0" rIns="0" bIns="0" rtlCol="0" anchor="t">
            <a:spAutoFit/>
          </a:bodyPr>
          <a:lstStyle/>
          <a:p>
            <a:pPr marL="0" lvl="0" indent="0" algn="ctr">
              <a:lnSpc>
                <a:spcPts val="1477"/>
              </a:lnSpc>
            </a:pPr>
            <a:r>
              <a:rPr lang="en-US" sz="1307" spc="20">
                <a:solidFill>
                  <a:srgbClr val="00172C"/>
                </a:solidFill>
                <a:latin typeface="Open Sauce"/>
                <a:ea typeface="Open Sauce"/>
                <a:cs typeface="Open Sauce"/>
                <a:sym typeface="Open Sauce"/>
              </a:rPr>
              <a:t>References</a:t>
            </a:r>
          </a:p>
        </p:txBody>
      </p:sp>
      <p:sp>
        <p:nvSpPr>
          <p:cNvPr id="22" name="TextBox 22"/>
          <p:cNvSpPr txBox="1"/>
          <p:nvPr/>
        </p:nvSpPr>
        <p:spPr>
          <a:xfrm>
            <a:off x="12404314" y="679139"/>
            <a:ext cx="2005110" cy="173545"/>
          </a:xfrm>
          <a:prstGeom prst="rect">
            <a:avLst/>
          </a:prstGeom>
        </p:spPr>
        <p:txBody>
          <a:bodyPr lIns="0" tIns="0" rIns="0" bIns="0" rtlCol="0" anchor="t">
            <a:spAutoFit/>
          </a:bodyPr>
          <a:lstStyle/>
          <a:p>
            <a:pPr marL="0" lvl="0" indent="0" algn="ctr">
              <a:lnSpc>
                <a:spcPts val="1477"/>
              </a:lnSpc>
            </a:pPr>
            <a:r>
              <a:rPr lang="en-US" sz="1307" spc="20">
                <a:solidFill>
                  <a:srgbClr val="00172C"/>
                </a:solidFill>
                <a:latin typeface="Open Sauce"/>
                <a:ea typeface="Open Sauce"/>
                <a:cs typeface="Open Sauce"/>
                <a:sym typeface="Open Sauce"/>
              </a:rPr>
              <a:t>Sources</a:t>
            </a:r>
          </a:p>
        </p:txBody>
      </p:sp>
      <p:sp>
        <p:nvSpPr>
          <p:cNvPr id="23" name="TextBox 23"/>
          <p:cNvSpPr txBox="1"/>
          <p:nvPr/>
        </p:nvSpPr>
        <p:spPr>
          <a:xfrm>
            <a:off x="14439516" y="679139"/>
            <a:ext cx="2005110" cy="173545"/>
          </a:xfrm>
          <a:prstGeom prst="rect">
            <a:avLst/>
          </a:prstGeom>
        </p:spPr>
        <p:txBody>
          <a:bodyPr lIns="0" tIns="0" rIns="0" bIns="0" rtlCol="0" anchor="t">
            <a:spAutoFit/>
          </a:bodyPr>
          <a:lstStyle/>
          <a:p>
            <a:pPr marL="0" lvl="0" indent="0" algn="ctr">
              <a:lnSpc>
                <a:spcPts val="1477"/>
              </a:lnSpc>
            </a:pPr>
            <a:r>
              <a:rPr lang="en-US" sz="1307" spc="20">
                <a:solidFill>
                  <a:srgbClr val="00172C"/>
                </a:solidFill>
                <a:latin typeface="Open Sauce"/>
                <a:ea typeface="Open Sauce"/>
                <a:cs typeface="Open Sauce"/>
                <a:sym typeface="Open Sauce"/>
              </a:rPr>
              <a:t>9/9</a:t>
            </a:r>
          </a:p>
        </p:txBody>
      </p:sp>
      <p:sp>
        <p:nvSpPr>
          <p:cNvPr id="24" name="TextBox 24"/>
          <p:cNvSpPr txBox="1"/>
          <p:nvPr/>
        </p:nvSpPr>
        <p:spPr>
          <a:xfrm>
            <a:off x="6743700" y="1409700"/>
            <a:ext cx="4800600" cy="860748"/>
          </a:xfrm>
          <a:prstGeom prst="rect">
            <a:avLst/>
          </a:prstGeom>
        </p:spPr>
        <p:txBody>
          <a:bodyPr wrap="square" lIns="0" tIns="0" rIns="0" bIns="0" rtlCol="0" anchor="t">
            <a:spAutoFit/>
          </a:bodyPr>
          <a:lstStyle/>
          <a:p>
            <a:pPr marL="0" lvl="0" indent="0" algn="l">
              <a:lnSpc>
                <a:spcPts val="7561"/>
              </a:lnSpc>
            </a:pPr>
            <a:r>
              <a:rPr lang="en-US" sz="4400" b="1" spc="-247" dirty="0">
                <a:latin typeface="Times New Roman" panose="02020603050405020304" pitchFamily="18" charset="0"/>
                <a:ea typeface="Open Sauce Bold"/>
                <a:cs typeface="Times New Roman" panose="02020603050405020304" pitchFamily="18" charset="0"/>
                <a:sym typeface="Open Sauce Bold"/>
              </a:rPr>
              <a:t>KEY REFERENCES</a:t>
            </a:r>
          </a:p>
        </p:txBody>
      </p:sp>
      <p:sp>
        <p:nvSpPr>
          <p:cNvPr id="31" name="TextBox 30">
            <a:extLst>
              <a:ext uri="{FF2B5EF4-FFF2-40B4-BE49-F238E27FC236}">
                <a16:creationId xmlns:a16="http://schemas.microsoft.com/office/drawing/2014/main" id="{FD633892-CCC2-8F29-FE05-2CB2014759EF}"/>
              </a:ext>
            </a:extLst>
          </p:cNvPr>
          <p:cNvSpPr txBox="1"/>
          <p:nvPr/>
        </p:nvSpPr>
        <p:spPr>
          <a:xfrm>
            <a:off x="533400" y="2270448"/>
            <a:ext cx="16577831" cy="7848302"/>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[1] S. Bhandari, S. G. Bansal, S. Santhosh, and I. P. </a:t>
            </a:r>
            <a:r>
              <a:rPr lang="en-IN" sz="2400" dirty="0" err="1">
                <a:latin typeface="Times New Roman" panose="02020603050405020304" pitchFamily="18" charset="0"/>
                <a:cs typeface="Times New Roman" panose="02020603050405020304" pitchFamily="18" charset="0"/>
              </a:rPr>
              <a:t>Lakhekar</a:t>
            </a:r>
            <a:r>
              <a:rPr lang="en-IN" sz="2400" dirty="0">
                <a:latin typeface="Times New Roman" panose="02020603050405020304" pitchFamily="18" charset="0"/>
                <a:cs typeface="Times New Roman" panose="02020603050405020304" pitchFamily="18" charset="0"/>
              </a:rPr>
              <a:t>, "AI-Powered Fitness and Diet Recommendation System: A Personalized Approach to Health and Wellness," International Research Journal on Advanced Engineering and Management, vol. 3, no. 3, pp. 534–539, Mar. 2025. [Online]. </a:t>
            </a:r>
          </a:p>
          <a:p>
            <a:pPr algn="just"/>
            <a:r>
              <a:rPr lang="en-IN" sz="2400" dirty="0">
                <a:latin typeface="Times New Roman" panose="02020603050405020304" pitchFamily="18" charset="0"/>
                <a:cs typeface="Times New Roman" panose="02020603050405020304" pitchFamily="18" charset="0"/>
              </a:rPr>
              <a:t>[2] J. Chen and Y. Wang, "Personalized fitness recommendations using machine learning for optimized national health strategy," Scientific Reports, vol. 15, Feb. 2025. [Online]. </a:t>
            </a:r>
          </a:p>
          <a:p>
            <a:pPr algn="just"/>
            <a:r>
              <a:rPr lang="en-IN" sz="2400" dirty="0">
                <a:latin typeface="Times New Roman" panose="02020603050405020304" pitchFamily="18" charset="0"/>
                <a:cs typeface="Times New Roman" panose="02020603050405020304" pitchFamily="18" charset="0"/>
              </a:rPr>
              <a:t>[3] H. M. Gaikwad, T. Sakshi, P. Siddhi, K. Vaishnavi, and R. Shravani, "</a:t>
            </a:r>
            <a:r>
              <a:rPr lang="en-IN" sz="2400" dirty="0" err="1">
                <a:latin typeface="Times New Roman" panose="02020603050405020304" pitchFamily="18" charset="0"/>
                <a:cs typeface="Times New Roman" panose="02020603050405020304" pitchFamily="18" charset="0"/>
              </a:rPr>
              <a:t>CalorieScan</a:t>
            </a:r>
            <a:r>
              <a:rPr lang="en-IN" sz="2400" dirty="0">
                <a:latin typeface="Times New Roman" panose="02020603050405020304" pitchFamily="18" charset="0"/>
                <a:cs typeface="Times New Roman" panose="02020603050405020304" pitchFamily="18" charset="0"/>
              </a:rPr>
              <a:t>: AI-Powered Food Recognition and Calorie Estimation System for Indian Diets," International Journal of Advanced Research in Computer and Communication Engineering, vol. 15, no. 3, p. 220, Mar. 2026. [Online].</a:t>
            </a:r>
          </a:p>
          <a:p>
            <a:pPr algn="just"/>
            <a:r>
              <a:rPr lang="en-IN" sz="2400" dirty="0">
                <a:latin typeface="Times New Roman" panose="02020603050405020304" pitchFamily="18" charset="0"/>
                <a:cs typeface="Times New Roman" panose="02020603050405020304" pitchFamily="18" charset="0"/>
              </a:rPr>
              <a:t>[4] A. A. Gedi, A. A. Khalif, M. A. S. Doon, A. A. Mohamed, I. A. Ali, and B. A. Ahmed, "Personalized Gym Recommendation System Using Machine </a:t>
            </a:r>
            <a:r>
              <a:rPr lang="en-IN" sz="2400" dirty="0" err="1">
                <a:latin typeface="Times New Roman" panose="02020603050405020304" pitchFamily="18" charset="0"/>
                <a:cs typeface="Times New Roman" panose="02020603050405020304" pitchFamily="18" charset="0"/>
              </a:rPr>
              <a:t>Learning,"International</a:t>
            </a:r>
            <a:r>
              <a:rPr lang="en-IN" sz="2400" dirty="0">
                <a:latin typeface="Times New Roman" panose="02020603050405020304" pitchFamily="18" charset="0"/>
                <a:cs typeface="Times New Roman" panose="02020603050405020304" pitchFamily="18" charset="0"/>
              </a:rPr>
              <a:t> Journal of Engineering Trends and Technology, vol. 73, no. 4, pp. 249–257,Apr. 2025. </a:t>
            </a:r>
          </a:p>
          <a:p>
            <a:pPr algn="just"/>
            <a:r>
              <a:rPr lang="en-IN" sz="2400" dirty="0">
                <a:latin typeface="Times New Roman" panose="02020603050405020304" pitchFamily="18" charset="0"/>
                <a:cs typeface="Times New Roman" panose="02020603050405020304" pitchFamily="18" charset="0"/>
              </a:rPr>
              <a:t>[5] S. Ghosh, D. Ghosh, and A. Chakraborty, "Nutrition for Recovery of Sports Injury," in The Biochemical Aspects of Sports Nutrition, </a:t>
            </a:r>
            <a:r>
              <a:rPr lang="en-IN" sz="2400" dirty="0" err="1">
                <a:latin typeface="Times New Roman" panose="02020603050405020304" pitchFamily="18" charset="0"/>
                <a:cs typeface="Times New Roman" panose="02020603050405020304" pitchFamily="18" charset="0"/>
              </a:rPr>
              <a:t>KDPublications</a:t>
            </a:r>
            <a:r>
              <a:rPr lang="en-IN" sz="2400" dirty="0">
                <a:latin typeface="Times New Roman" panose="02020603050405020304" pitchFamily="18" charset="0"/>
                <a:cs typeface="Times New Roman" panose="02020603050405020304" pitchFamily="18" charset="0"/>
              </a:rPr>
              <a:t>, pp. 1–10. [Online]. </a:t>
            </a:r>
          </a:p>
          <a:p>
            <a:pPr algn="just"/>
            <a:r>
              <a:rPr lang="en-IN" sz="2400" dirty="0">
                <a:latin typeface="Times New Roman" panose="02020603050405020304" pitchFamily="18" charset="0"/>
                <a:cs typeface="Times New Roman" panose="02020603050405020304" pitchFamily="18" charset="0"/>
              </a:rPr>
              <a:t>[6] S. Hussain, N. Khan, S. A. A. Shah, S. Bano, and A. W. Khan, "AI-Driven Personalized Meal Planning: A Web-based Platform for Tailored Nutrition and Health Management," International Journal of Computer Applications, vol. 187, no. 57, p. 17, Nov. 2025. </a:t>
            </a:r>
          </a:p>
          <a:p>
            <a:pPr algn="just"/>
            <a:r>
              <a:rPr lang="en-IN" sz="2400" dirty="0">
                <a:latin typeface="Times New Roman" panose="02020603050405020304" pitchFamily="18" charset="0"/>
                <a:cs typeface="Times New Roman" panose="02020603050405020304" pitchFamily="18" charset="0"/>
              </a:rPr>
              <a:t>[7] Z. Jiang et al., "</a:t>
            </a:r>
            <a:r>
              <a:rPr lang="en-IN" sz="2400" dirty="0" err="1">
                <a:latin typeface="Times New Roman" panose="02020603050405020304" pitchFamily="18" charset="0"/>
                <a:cs typeface="Times New Roman" panose="02020603050405020304" pitchFamily="18" charset="0"/>
              </a:rPr>
              <a:t>DietGlance</a:t>
            </a:r>
            <a:r>
              <a:rPr lang="en-IN" sz="2400" dirty="0">
                <a:latin typeface="Times New Roman" panose="02020603050405020304" pitchFamily="18" charset="0"/>
                <a:cs typeface="Times New Roman" panose="02020603050405020304" pitchFamily="18" charset="0"/>
              </a:rPr>
              <a:t>: Dietary Monitoring and Personalized Analysis at a Glance with Knowledge-Empowered AI Assistant," </a:t>
            </a:r>
            <a:r>
              <a:rPr lang="en-IN" sz="2400" dirty="0" err="1">
                <a:latin typeface="Times New Roman" panose="02020603050405020304" pitchFamily="18" charset="0"/>
                <a:cs typeface="Times New Roman" panose="02020603050405020304" pitchFamily="18" charset="0"/>
              </a:rPr>
              <a:t>arXiv</a:t>
            </a:r>
            <a:r>
              <a:rPr lang="en-IN" sz="2400" dirty="0">
                <a:latin typeface="Times New Roman" panose="02020603050405020304" pitchFamily="18" charset="0"/>
                <a:cs typeface="Times New Roman" panose="02020603050405020304" pitchFamily="18" charset="0"/>
              </a:rPr>
              <a:t> preprint arXiv:2502.01317, Feb. 2025. [Online]. </a:t>
            </a:r>
          </a:p>
          <a:p>
            <a:pPr algn="just"/>
            <a:r>
              <a:rPr lang="en-IN" sz="2400" dirty="0">
                <a:latin typeface="Times New Roman" panose="02020603050405020304" pitchFamily="18" charset="0"/>
                <a:cs typeface="Times New Roman" panose="02020603050405020304" pitchFamily="18" charset="0"/>
              </a:rPr>
              <a:t>[8] H. Kayange, J. Mun, Y. Park, J. Choi, and J. Choi, "A Hybrid Approach to </a:t>
            </a:r>
            <a:r>
              <a:rPr lang="en-IN" sz="2400" dirty="0" err="1">
                <a:latin typeface="Times New Roman" panose="02020603050405020304" pitchFamily="18" charset="0"/>
                <a:cs typeface="Times New Roman" panose="02020603050405020304" pitchFamily="18" charset="0"/>
              </a:rPr>
              <a:t>Modeling</a:t>
            </a:r>
            <a:r>
              <a:rPr lang="en-IN" sz="2400" dirty="0">
                <a:latin typeface="Times New Roman" panose="02020603050405020304" pitchFamily="18" charset="0"/>
                <a:cs typeface="Times New Roman" panose="02020603050405020304" pitchFamily="18" charset="0"/>
              </a:rPr>
              <a:t> Heart Rate Response for Personalized Fitness Recommendations Using Wearable Data," Electronics, vol. 13, no. 19, p. 3888, Sep. 2024. [Online].</a:t>
            </a:r>
          </a:p>
          <a:p>
            <a:pPr algn="just"/>
            <a:r>
              <a:rPr lang="en-US" sz="2400" dirty="0"/>
              <a:t>[9] M. </a:t>
            </a:r>
            <a:r>
              <a:rPr lang="en-US" sz="2400" dirty="0" err="1"/>
              <a:t>Shaheel</a:t>
            </a:r>
            <a:r>
              <a:rPr lang="en-US" sz="2400" dirty="0"/>
              <a:t>, "Diet Recommendation System Using Machine Learning," Bournemouth University, Dec. 2023. [Online].</a:t>
            </a:r>
          </a:p>
          <a:p>
            <a:pPr algn="just"/>
            <a:r>
              <a:rPr lang="en-US" sz="2400" dirty="0"/>
              <a:t>[10] X. Wang, Z. Sun, H. Xue, and R. An, "Artificial Intelligence Applications to Personalized Dietary Recommendations: A Systematic Review," Healthcare, vol. 13, no. 12, p. 1417, Jun. 2025. [Online].</a:t>
            </a:r>
            <a:endParaRPr lang="en-IN" sz="2400"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52914BBF-66E5-D1BD-952C-523910926957}"/>
              </a:ext>
            </a:extLst>
          </p:cNvPr>
          <p:cNvGrpSpPr/>
          <p:nvPr/>
        </p:nvGrpSpPr>
        <p:grpSpPr>
          <a:xfrm>
            <a:off x="1028700" y="693183"/>
            <a:ext cx="3081706" cy="671033"/>
            <a:chOff x="0" y="0"/>
            <a:chExt cx="1160243" cy="252640"/>
          </a:xfrm>
        </p:grpSpPr>
        <p:sp>
          <p:nvSpPr>
            <p:cNvPr id="6" name="Freeform 3">
              <a:extLst>
                <a:ext uri="{FF2B5EF4-FFF2-40B4-BE49-F238E27FC236}">
                  <a16:creationId xmlns:a16="http://schemas.microsoft.com/office/drawing/2014/main" id="{4891EE54-EE5F-B5E0-5463-4A1755D043A6}"/>
                </a:ext>
              </a:extLst>
            </p:cNvPr>
            <p:cNvSpPr/>
            <p:nvPr/>
          </p:nvSpPr>
          <p:spPr>
            <a:xfrm>
              <a:off x="0" y="0"/>
              <a:ext cx="1160243" cy="252640"/>
            </a:xfrm>
            <a:custGeom>
              <a:avLst/>
              <a:gdLst/>
              <a:ahLst/>
              <a:cxnLst/>
              <a:rect l="l" t="t" r="r" b="b"/>
              <a:pathLst>
                <a:path w="1160243" h="252640">
                  <a:moveTo>
                    <a:pt x="126320" y="0"/>
                  </a:moveTo>
                  <a:lnTo>
                    <a:pt x="1033923" y="0"/>
                  </a:lnTo>
                  <a:cubicBezTo>
                    <a:pt x="1103687" y="0"/>
                    <a:pt x="1160243" y="56555"/>
                    <a:pt x="1160243" y="126320"/>
                  </a:cubicBezTo>
                  <a:lnTo>
                    <a:pt x="1160243" y="126320"/>
                  </a:lnTo>
                  <a:cubicBezTo>
                    <a:pt x="1160243" y="196084"/>
                    <a:pt x="1103687" y="252640"/>
                    <a:pt x="1033923" y="252640"/>
                  </a:cubicBezTo>
                  <a:lnTo>
                    <a:pt x="126320" y="252640"/>
                  </a:lnTo>
                  <a:cubicBezTo>
                    <a:pt x="56555" y="252640"/>
                    <a:pt x="0" y="196084"/>
                    <a:pt x="0" y="126320"/>
                  </a:cubicBezTo>
                  <a:lnTo>
                    <a:pt x="0" y="126320"/>
                  </a:lnTo>
                  <a:cubicBezTo>
                    <a:pt x="0" y="56555"/>
                    <a:pt x="56555" y="0"/>
                    <a:pt x="126320" y="0"/>
                  </a:cubicBezTo>
                  <a:close/>
                </a:path>
              </a:pathLst>
            </a:custGeom>
            <a:solidFill>
              <a:srgbClr val="0063C2"/>
            </a:solidFill>
          </p:spPr>
        </p:sp>
        <p:sp>
          <p:nvSpPr>
            <p:cNvPr id="7" name="TextBox 4">
              <a:extLst>
                <a:ext uri="{FF2B5EF4-FFF2-40B4-BE49-F238E27FC236}">
                  <a16:creationId xmlns:a16="http://schemas.microsoft.com/office/drawing/2014/main" id="{35B43CC0-860F-68CE-AAEF-A8C6DDF1EFD0}"/>
                </a:ext>
              </a:extLst>
            </p:cNvPr>
            <p:cNvSpPr txBox="1"/>
            <p:nvPr/>
          </p:nvSpPr>
          <p:spPr>
            <a:xfrm>
              <a:off x="0" y="-38100"/>
              <a:ext cx="1160243" cy="290740"/>
            </a:xfrm>
            <a:prstGeom prst="rect">
              <a:avLst/>
            </a:prstGeom>
          </p:spPr>
          <p:txBody>
            <a:bodyPr lIns="50800" tIns="50800" rIns="50800" bIns="50800" rtlCol="0" anchor="ctr"/>
            <a:lstStyle/>
            <a:p>
              <a:pPr marL="0" lvl="0" indent="0"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9" name="TextBox 12">
            <a:extLst>
              <a:ext uri="{FF2B5EF4-FFF2-40B4-BE49-F238E27FC236}">
                <a16:creationId xmlns:a16="http://schemas.microsoft.com/office/drawing/2014/main" id="{159F5364-3A3B-B061-14D0-56A8D62FA074}"/>
              </a:ext>
            </a:extLst>
          </p:cNvPr>
          <p:cNvSpPr txBox="1"/>
          <p:nvPr/>
        </p:nvSpPr>
        <p:spPr>
          <a:xfrm>
            <a:off x="2094089" y="928416"/>
            <a:ext cx="1755880" cy="218008"/>
          </a:xfrm>
          <a:prstGeom prst="rect">
            <a:avLst/>
          </a:prstGeom>
        </p:spPr>
        <p:txBody>
          <a:bodyPr lIns="0" tIns="0" rIns="0" bIns="0" rtlCol="0" anchor="t">
            <a:spAutoFit/>
          </a:bodyPr>
          <a:lstStyle/>
          <a:p>
            <a:pPr marL="0" lvl="0" indent="0" algn="l">
              <a:lnSpc>
                <a:spcPts val="1658"/>
              </a:lnSpc>
            </a:pPr>
            <a:r>
              <a:rPr lang="en-US" sz="1468" b="1" spc="23">
                <a:solidFill>
                  <a:srgbClr val="F8FCFF"/>
                </a:solidFill>
                <a:latin typeface="Times New Roman" panose="02020603050405020304" pitchFamily="18" charset="0"/>
                <a:ea typeface="Open Sauce Bold"/>
                <a:cs typeface="Times New Roman" panose="02020603050405020304" pitchFamily="18" charset="0"/>
                <a:sym typeface="Open Sauce Bold"/>
              </a:rPr>
              <a:t>FITYNTRA</a:t>
            </a:r>
          </a:p>
        </p:txBody>
      </p:sp>
      <p:grpSp>
        <p:nvGrpSpPr>
          <p:cNvPr id="10" name="Group 9">
            <a:extLst>
              <a:ext uri="{FF2B5EF4-FFF2-40B4-BE49-F238E27FC236}">
                <a16:creationId xmlns:a16="http://schemas.microsoft.com/office/drawing/2014/main" id="{297E60FF-0D1C-04E8-24DF-4F875279E00D}"/>
              </a:ext>
            </a:extLst>
          </p:cNvPr>
          <p:cNvGrpSpPr/>
          <p:nvPr/>
        </p:nvGrpSpPr>
        <p:grpSpPr>
          <a:xfrm>
            <a:off x="1028700" y="2004440"/>
            <a:ext cx="6208524" cy="7253860"/>
            <a:chOff x="0" y="0"/>
            <a:chExt cx="1577330" cy="1842907"/>
          </a:xfrm>
        </p:grpSpPr>
        <p:sp>
          <p:nvSpPr>
            <p:cNvPr id="11" name="Freeform 10">
              <a:extLst>
                <a:ext uri="{FF2B5EF4-FFF2-40B4-BE49-F238E27FC236}">
                  <a16:creationId xmlns:a16="http://schemas.microsoft.com/office/drawing/2014/main" id="{05813DA0-E8EA-E64A-5E79-C14371CCA694}"/>
                </a:ext>
              </a:extLst>
            </p:cNvPr>
            <p:cNvSpPr/>
            <p:nvPr/>
          </p:nvSpPr>
          <p:spPr>
            <a:xfrm>
              <a:off x="0" y="0"/>
              <a:ext cx="1577330" cy="1842907"/>
            </a:xfrm>
            <a:custGeom>
              <a:avLst/>
              <a:gdLst/>
              <a:ahLst/>
              <a:cxnLst/>
              <a:rect l="l" t="t" r="r" b="b"/>
              <a:pathLst>
                <a:path w="1577330" h="1842907">
                  <a:moveTo>
                    <a:pt x="47385" y="0"/>
                  </a:moveTo>
                  <a:lnTo>
                    <a:pt x="1529945" y="0"/>
                  </a:lnTo>
                  <a:cubicBezTo>
                    <a:pt x="1542513" y="0"/>
                    <a:pt x="1554565" y="4992"/>
                    <a:pt x="1563452" y="13879"/>
                  </a:cubicBezTo>
                  <a:cubicBezTo>
                    <a:pt x="1572338" y="22765"/>
                    <a:pt x="1577330" y="34818"/>
                    <a:pt x="1577330" y="47385"/>
                  </a:cubicBezTo>
                  <a:lnTo>
                    <a:pt x="1577330" y="1795522"/>
                  </a:lnTo>
                  <a:cubicBezTo>
                    <a:pt x="1577330" y="1808089"/>
                    <a:pt x="1572338" y="1820142"/>
                    <a:pt x="1563452" y="1829028"/>
                  </a:cubicBezTo>
                  <a:cubicBezTo>
                    <a:pt x="1554565" y="1837915"/>
                    <a:pt x="1542513" y="1842907"/>
                    <a:pt x="1529945" y="1842907"/>
                  </a:cubicBezTo>
                  <a:lnTo>
                    <a:pt x="47385" y="1842907"/>
                  </a:lnTo>
                  <a:cubicBezTo>
                    <a:pt x="34818" y="1842907"/>
                    <a:pt x="22765" y="1837915"/>
                    <a:pt x="13879" y="1829028"/>
                  </a:cubicBezTo>
                  <a:cubicBezTo>
                    <a:pt x="4992" y="1820142"/>
                    <a:pt x="0" y="1808089"/>
                    <a:pt x="0" y="1795522"/>
                  </a:cubicBezTo>
                  <a:lnTo>
                    <a:pt x="0" y="47385"/>
                  </a:lnTo>
                  <a:cubicBezTo>
                    <a:pt x="0" y="34818"/>
                    <a:pt x="4992" y="22765"/>
                    <a:pt x="13879" y="13879"/>
                  </a:cubicBezTo>
                  <a:cubicBezTo>
                    <a:pt x="22765" y="4992"/>
                    <a:pt x="34818" y="0"/>
                    <a:pt x="47385" y="0"/>
                  </a:cubicBezTo>
                  <a:close/>
                </a:path>
              </a:pathLst>
            </a:custGeom>
            <a:blipFill>
              <a:blip r:embed="rId2"/>
              <a:stretch>
                <a:fillRect t="-2914" b="-2914"/>
              </a:stretch>
            </a:blipFill>
          </p:spPr>
        </p:sp>
      </p:grpSp>
      <p:grpSp>
        <p:nvGrpSpPr>
          <p:cNvPr id="12" name="Group 6">
            <a:extLst>
              <a:ext uri="{FF2B5EF4-FFF2-40B4-BE49-F238E27FC236}">
                <a16:creationId xmlns:a16="http://schemas.microsoft.com/office/drawing/2014/main" id="{1FF85D0B-CD07-40E2-C3A5-EE40E208638D}"/>
              </a:ext>
            </a:extLst>
          </p:cNvPr>
          <p:cNvGrpSpPr/>
          <p:nvPr/>
        </p:nvGrpSpPr>
        <p:grpSpPr>
          <a:xfrm>
            <a:off x="7613302" y="1138500"/>
            <a:ext cx="9645998" cy="8229600"/>
            <a:chOff x="0" y="0"/>
            <a:chExt cx="2540510" cy="2167467"/>
          </a:xfrm>
        </p:grpSpPr>
        <p:sp>
          <p:nvSpPr>
            <p:cNvPr id="13" name="Freeform 7">
              <a:extLst>
                <a:ext uri="{FF2B5EF4-FFF2-40B4-BE49-F238E27FC236}">
                  <a16:creationId xmlns:a16="http://schemas.microsoft.com/office/drawing/2014/main" id="{4F732CE1-759D-2E01-0107-C8A503E5C866}"/>
                </a:ext>
              </a:extLst>
            </p:cNvPr>
            <p:cNvSpPr/>
            <p:nvPr/>
          </p:nvSpPr>
          <p:spPr>
            <a:xfrm>
              <a:off x="0" y="0"/>
              <a:ext cx="2540510" cy="2167467"/>
            </a:xfrm>
            <a:custGeom>
              <a:avLst/>
              <a:gdLst/>
              <a:ahLst/>
              <a:cxnLst/>
              <a:rect l="l" t="t" r="r" b="b"/>
              <a:pathLst>
                <a:path w="2540510" h="2167467">
                  <a:moveTo>
                    <a:pt x="28894" y="0"/>
                  </a:moveTo>
                  <a:lnTo>
                    <a:pt x="2511616" y="0"/>
                  </a:lnTo>
                  <a:cubicBezTo>
                    <a:pt x="2527574" y="0"/>
                    <a:pt x="2540510" y="12936"/>
                    <a:pt x="2540510" y="28894"/>
                  </a:cubicBezTo>
                  <a:lnTo>
                    <a:pt x="2540510" y="2138573"/>
                  </a:lnTo>
                  <a:cubicBezTo>
                    <a:pt x="2540510" y="2146236"/>
                    <a:pt x="2537466" y="2153585"/>
                    <a:pt x="2532047" y="2159004"/>
                  </a:cubicBezTo>
                  <a:cubicBezTo>
                    <a:pt x="2526629" y="2164423"/>
                    <a:pt x="2519279" y="2167467"/>
                    <a:pt x="2511616" y="2167467"/>
                  </a:cubicBezTo>
                  <a:lnTo>
                    <a:pt x="28894" y="2167467"/>
                  </a:lnTo>
                  <a:cubicBezTo>
                    <a:pt x="21231" y="2167467"/>
                    <a:pt x="13881" y="2164423"/>
                    <a:pt x="8463" y="2159004"/>
                  </a:cubicBezTo>
                  <a:cubicBezTo>
                    <a:pt x="3044" y="2153585"/>
                    <a:pt x="0" y="2146236"/>
                    <a:pt x="0" y="2138573"/>
                  </a:cubicBezTo>
                  <a:lnTo>
                    <a:pt x="0" y="28894"/>
                  </a:lnTo>
                  <a:cubicBezTo>
                    <a:pt x="0" y="21231"/>
                    <a:pt x="3044" y="13881"/>
                    <a:pt x="8463" y="8463"/>
                  </a:cubicBezTo>
                  <a:cubicBezTo>
                    <a:pt x="13881" y="3044"/>
                    <a:pt x="21231" y="0"/>
                    <a:pt x="28894" y="0"/>
                  </a:cubicBezTo>
                  <a:close/>
                </a:path>
              </a:pathLst>
            </a:custGeom>
            <a:solidFill>
              <a:srgbClr val="0063C2"/>
            </a:solidFill>
          </p:spPr>
        </p:sp>
        <p:sp>
          <p:nvSpPr>
            <p:cNvPr id="14" name="TextBox 8">
              <a:extLst>
                <a:ext uri="{FF2B5EF4-FFF2-40B4-BE49-F238E27FC236}">
                  <a16:creationId xmlns:a16="http://schemas.microsoft.com/office/drawing/2014/main" id="{47DABF90-5028-64EC-6A21-AC14C156D7E3}"/>
                </a:ext>
              </a:extLst>
            </p:cNvPr>
            <p:cNvSpPr txBox="1"/>
            <p:nvPr/>
          </p:nvSpPr>
          <p:spPr>
            <a:xfrm>
              <a:off x="0" y="9525"/>
              <a:ext cx="2540510" cy="2157942"/>
            </a:xfrm>
            <a:prstGeom prst="rect">
              <a:avLst/>
            </a:prstGeom>
          </p:spPr>
          <p:txBody>
            <a:bodyPr lIns="50800" tIns="50800" rIns="50800" bIns="50800" rtlCol="0" anchor="ctr"/>
            <a:lstStyle/>
            <a:p>
              <a:pPr marL="0" lvl="0" indent="0" algn="ctr">
                <a:lnSpc>
                  <a:spcPts val="2372"/>
                </a:lnSpc>
              </a:pPr>
              <a:endParaRPr>
                <a:latin typeface="Times New Roman" panose="02020603050405020304" pitchFamily="18" charset="0"/>
                <a:cs typeface="Times New Roman" panose="02020603050405020304" pitchFamily="18" charset="0"/>
              </a:endParaRPr>
            </a:p>
          </p:txBody>
        </p:sp>
      </p:grpSp>
      <p:sp>
        <p:nvSpPr>
          <p:cNvPr id="16" name="TextBox 13">
            <a:extLst>
              <a:ext uri="{FF2B5EF4-FFF2-40B4-BE49-F238E27FC236}">
                <a16:creationId xmlns:a16="http://schemas.microsoft.com/office/drawing/2014/main" id="{FEBFE9E7-9DFC-D239-3506-0BACAD73DA4B}"/>
              </a:ext>
            </a:extLst>
          </p:cNvPr>
          <p:cNvSpPr txBox="1"/>
          <p:nvPr/>
        </p:nvSpPr>
        <p:spPr>
          <a:xfrm>
            <a:off x="9206182" y="3886745"/>
            <a:ext cx="6460238" cy="2513509"/>
          </a:xfrm>
          <a:prstGeom prst="rect">
            <a:avLst/>
          </a:prstGeom>
        </p:spPr>
        <p:txBody>
          <a:bodyPr wrap="square" lIns="0" tIns="0" rIns="0" bIns="0" rtlCol="0" anchor="t">
            <a:spAutoFit/>
          </a:bodyPr>
          <a:lstStyle/>
          <a:p>
            <a:pPr marL="0" lvl="0" indent="0" algn="ctr">
              <a:lnSpc>
                <a:spcPts val="9808"/>
              </a:lnSpc>
            </a:pPr>
            <a:r>
              <a:rPr lang="en-US" sz="8680" b="1" spc="-321" dirty="0">
                <a:solidFill>
                  <a:srgbClr val="F8FCFF"/>
                </a:solidFill>
                <a:latin typeface="Times New Roman" panose="02020603050405020304" pitchFamily="18" charset="0"/>
                <a:ea typeface="Open Sauce Bold"/>
                <a:cs typeface="Times New Roman" panose="02020603050405020304" pitchFamily="18" charset="0"/>
                <a:sym typeface="Open Sauce Bold"/>
              </a:rPr>
              <a:t>THANK YOU</a:t>
            </a:r>
          </a:p>
          <a:p>
            <a:pPr lvl="0" algn="ctr">
              <a:lnSpc>
                <a:spcPts val="9808"/>
              </a:lnSpc>
            </a:pPr>
            <a:r>
              <a:rPr lang="en-IN" sz="8800" b="1" dirty="0">
                <a:solidFill>
                  <a:schemeClr val="bg1"/>
                </a:solidFill>
                <a:latin typeface="Times New Roman" panose="02020603050405020304" pitchFamily="18" charset="0"/>
                <a:cs typeface="Times New Roman" panose="02020603050405020304" pitchFamily="18" charset="0"/>
              </a:rPr>
              <a:t>Questions?</a:t>
            </a:r>
            <a:endParaRPr lang="en-US" sz="8680" b="1" spc="-321" dirty="0">
              <a:solidFill>
                <a:schemeClr val="bg1"/>
              </a:solidFill>
              <a:latin typeface="Times New Roman" panose="02020603050405020304" pitchFamily="18" charset="0"/>
              <a:ea typeface="Open Sauce Bold"/>
              <a:cs typeface="Times New Roman" panose="02020603050405020304" pitchFamily="18" charset="0"/>
              <a:sym typeface="Open Sauce Bold"/>
            </a:endParaRPr>
          </a:p>
        </p:txBody>
      </p:sp>
    </p:spTree>
    <p:extLst>
      <p:ext uri="{BB962C8B-B14F-4D97-AF65-F5344CB8AC3E}">
        <p14:creationId xmlns:p14="http://schemas.microsoft.com/office/powerpoint/2010/main" val="1621827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524</TotalTime>
  <Words>967</Words>
  <Application>Microsoft Office PowerPoint</Application>
  <PresentationFormat>Custom</PresentationFormat>
  <Paragraphs>80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Open Sauce</vt:lpstr>
      <vt:lpstr>Open Sauce Bold</vt:lpstr>
      <vt:lpstr>Arial</vt:lpstr>
      <vt:lpstr>Times New Roman</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ML MODELLING RESULTS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FITYNTRA: Adaptive AI Fitness Platform</dc:title>
  <dc:creator>Vrushank</dc:creator>
  <cp:lastModifiedBy>Vrushank Skanda B</cp:lastModifiedBy>
  <cp:revision>22</cp:revision>
  <dcterms:created xsi:type="dcterms:W3CDTF">2006-08-16T00:00:00Z</dcterms:created>
  <dcterms:modified xsi:type="dcterms:W3CDTF">2026-05-05T13:07:52Z</dcterms:modified>
  <dc:identifier>DAHIrjyeSxU</dc:identifier>
</cp:coreProperties>
</file>